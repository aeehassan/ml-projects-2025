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Poppins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Medium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boldItalic.fntdata"/><Relationship Id="rId30" Type="http://schemas.openxmlformats.org/officeDocument/2006/relationships/font" Target="fonts/Poppins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2d93237c2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2d93237c2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2d93237c2_2_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2d93237c2_2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2d93237c2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72d93237c2_2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72d93237c2_2_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2d93237c2_2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72d93237c2_2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2d93237c2_2_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72d93237c2_2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2d93237c2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72d93237c2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2d93237c2_2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72d93237c2_2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2d93237c2_2_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72d93237c2_2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2d93237c2_2_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72d93237c2_2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2d93237c2_2_2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72d93237c2_2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2d93237c2_2_2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72d93237c2_2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2d93237c2_2_2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72d93237c2_2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2d93237c2_2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72d93237c2_2_2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72d93237c2_2_2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2d93237c2_2_2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72d93237c2_2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2d93237c2_2_3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72d93237c2_2_3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2d93237c2_2_3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72d93237c2_2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72d93237c2_2_3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72d93237c2_2_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0.jp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0.jp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1" l="0" r="0" t="-83411"/>
            </a:stretch>
          </a:blipFill>
          <a:ln>
            <a:noFill/>
          </a:ln>
        </p:spPr>
      </p:sp>
      <p:grpSp>
        <p:nvGrpSpPr>
          <p:cNvPr id="130" name="Google Shape;130;p25"/>
          <p:cNvGrpSpPr/>
          <p:nvPr/>
        </p:nvGrpSpPr>
        <p:grpSpPr>
          <a:xfrm rot="5400000">
            <a:off x="4596407" y="-100855"/>
            <a:ext cx="647947" cy="9840762"/>
            <a:chOff x="0" y="-66675"/>
            <a:chExt cx="341306" cy="5183611"/>
          </a:xfrm>
        </p:grpSpPr>
        <p:sp>
          <p:nvSpPr>
            <p:cNvPr id="131" name="Google Shape;131;p25"/>
            <p:cNvSpPr/>
            <p:nvPr/>
          </p:nvSpPr>
          <p:spPr>
            <a:xfrm>
              <a:off x="0" y="0"/>
              <a:ext cx="341306" cy="5116936"/>
            </a:xfrm>
            <a:custGeom>
              <a:rect b="b" l="l" r="r" t="t"/>
              <a:pathLst>
                <a:path extrusionOk="0" h="5116936" w="341306">
                  <a:moveTo>
                    <a:pt x="0" y="0"/>
                  </a:moveTo>
                  <a:lnTo>
                    <a:pt x="341306" y="0"/>
                  </a:lnTo>
                  <a:lnTo>
                    <a:pt x="341306" y="5116936"/>
                  </a:lnTo>
                  <a:lnTo>
                    <a:pt x="0" y="5116936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2" name="Google Shape;132;p25"/>
            <p:cNvSpPr txBox="1"/>
            <p:nvPr/>
          </p:nvSpPr>
          <p:spPr>
            <a:xfrm>
              <a:off x="0" y="-66675"/>
              <a:ext cx="341306" cy="5183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5"/>
          <p:cNvSpPr/>
          <p:nvPr/>
        </p:nvSpPr>
        <p:spPr>
          <a:xfrm>
            <a:off x="307396" y="393182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5"/>
          <p:cNvSpPr txBox="1"/>
          <p:nvPr/>
        </p:nvSpPr>
        <p:spPr>
          <a:xfrm>
            <a:off x="707861" y="2259741"/>
            <a:ext cx="7728279" cy="1792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PYTHON NUMPY TUTORIAL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42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4854228" y="3897735"/>
            <a:ext cx="4289772" cy="1245765"/>
          </a:xfrm>
          <a:custGeom>
            <a:rect b="b" l="l" r="r" t="t"/>
            <a:pathLst>
              <a:path extrusionOk="0" h="3403974" w="8143875">
                <a:moveTo>
                  <a:pt x="0" y="0"/>
                </a:moveTo>
                <a:lnTo>
                  <a:pt x="8143875" y="0"/>
                </a:lnTo>
                <a:lnTo>
                  <a:pt x="8143875" y="3403974"/>
                </a:lnTo>
                <a:lnTo>
                  <a:pt x="0" y="3403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6"/>
          <p:cNvSpPr/>
          <p:nvPr/>
        </p:nvSpPr>
        <p:spPr>
          <a:xfrm>
            <a:off x="4546" y="0"/>
            <a:ext cx="4865062" cy="5143500"/>
          </a:xfrm>
          <a:custGeom>
            <a:rect b="b" l="l" r="r" t="t"/>
            <a:pathLst>
              <a:path extrusionOk="0" h="994287" w="864900">
                <a:moveTo>
                  <a:pt x="0" y="0"/>
                </a:moveTo>
                <a:lnTo>
                  <a:pt x="864900" y="0"/>
                </a:lnTo>
                <a:lnTo>
                  <a:pt x="864900" y="994287"/>
                </a:lnTo>
                <a:lnTo>
                  <a:pt x="0" y="99428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6433" r="-36433" t="0"/>
            </a:stretch>
          </a:blipFill>
          <a:ln>
            <a:noFill/>
          </a:ln>
        </p:spPr>
      </p:sp>
      <p:grpSp>
        <p:nvGrpSpPr>
          <p:cNvPr id="141" name="Google Shape;141;p26"/>
          <p:cNvGrpSpPr/>
          <p:nvPr/>
        </p:nvGrpSpPr>
        <p:grpSpPr>
          <a:xfrm>
            <a:off x="-10832" y="2743140"/>
            <a:ext cx="4865062" cy="2400360"/>
            <a:chOff x="0" y="-66675"/>
            <a:chExt cx="2562667" cy="1519509"/>
          </a:xfrm>
        </p:grpSpPr>
        <p:sp>
          <p:nvSpPr>
            <p:cNvPr id="142" name="Google Shape;142;p26"/>
            <p:cNvSpPr/>
            <p:nvPr/>
          </p:nvSpPr>
          <p:spPr>
            <a:xfrm>
              <a:off x="0" y="0"/>
              <a:ext cx="2562666" cy="1452834"/>
            </a:xfrm>
            <a:custGeom>
              <a:rect b="b" l="l" r="r" t="t"/>
              <a:pathLst>
                <a:path extrusionOk="0" h="1452834" w="2562666">
                  <a:moveTo>
                    <a:pt x="0" y="0"/>
                  </a:moveTo>
                  <a:lnTo>
                    <a:pt x="2562666" y="0"/>
                  </a:lnTo>
                  <a:lnTo>
                    <a:pt x="2562666" y="1452834"/>
                  </a:lnTo>
                  <a:lnTo>
                    <a:pt x="0" y="1452834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2142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3" name="Google Shape;143;p26"/>
            <p:cNvSpPr txBox="1"/>
            <p:nvPr/>
          </p:nvSpPr>
          <p:spPr>
            <a:xfrm>
              <a:off x="0" y="-66675"/>
              <a:ext cx="2562667" cy="151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26"/>
          <p:cNvGrpSpPr/>
          <p:nvPr/>
        </p:nvGrpSpPr>
        <p:grpSpPr>
          <a:xfrm>
            <a:off x="8434275" y="-7"/>
            <a:ext cx="709711" cy="5143555"/>
            <a:chOff x="0" y="-66675"/>
            <a:chExt cx="373847" cy="2155994"/>
          </a:xfrm>
        </p:grpSpPr>
        <p:sp>
          <p:nvSpPr>
            <p:cNvPr id="145" name="Google Shape;145;p26"/>
            <p:cNvSpPr/>
            <p:nvPr/>
          </p:nvSpPr>
          <p:spPr>
            <a:xfrm>
              <a:off x="0" y="0"/>
              <a:ext cx="373847" cy="2089319"/>
            </a:xfrm>
            <a:custGeom>
              <a:rect b="b" l="l" r="r" t="t"/>
              <a:pathLst>
                <a:path extrusionOk="0" h="2089319" w="373847">
                  <a:moveTo>
                    <a:pt x="0" y="0"/>
                  </a:moveTo>
                  <a:lnTo>
                    <a:pt x="373847" y="0"/>
                  </a:lnTo>
                  <a:lnTo>
                    <a:pt x="373847" y="2089319"/>
                  </a:lnTo>
                  <a:lnTo>
                    <a:pt x="0" y="2089319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6" name="Google Shape;146;p26"/>
            <p:cNvSpPr txBox="1"/>
            <p:nvPr/>
          </p:nvSpPr>
          <p:spPr>
            <a:xfrm>
              <a:off x="0" y="-66675"/>
              <a:ext cx="373847" cy="2155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26"/>
          <p:cNvSpPr txBox="1"/>
          <p:nvPr/>
        </p:nvSpPr>
        <p:spPr>
          <a:xfrm>
            <a:off x="514350" y="3533676"/>
            <a:ext cx="3814699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What is NumPy?</a:t>
            </a:r>
            <a:endParaRPr sz="700"/>
          </a:p>
        </p:txBody>
      </p:sp>
      <p:sp>
        <p:nvSpPr>
          <p:cNvPr id="148" name="Google Shape;148;p26"/>
          <p:cNvSpPr/>
          <p:nvPr/>
        </p:nvSpPr>
        <p:spPr>
          <a:xfrm>
            <a:off x="307396" y="393182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26"/>
          <p:cNvSpPr txBox="1"/>
          <p:nvPr/>
        </p:nvSpPr>
        <p:spPr>
          <a:xfrm>
            <a:off x="5059618" y="326687"/>
            <a:ext cx="3764251" cy="1075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NumPy (Numerical Python) is a powerful Python library used for numerical and scientific computing. It allows for:</a:t>
            </a:r>
            <a:endParaRPr sz="700"/>
          </a:p>
        </p:txBody>
      </p:sp>
      <p:sp>
        <p:nvSpPr>
          <p:cNvPr id="150" name="Google Shape;150;p26"/>
          <p:cNvSpPr txBox="1"/>
          <p:nvPr/>
        </p:nvSpPr>
        <p:spPr>
          <a:xfrm>
            <a:off x="4869599" y="1656885"/>
            <a:ext cx="3750000" cy="2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4150" lvl="1" marL="3683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 computation with arrays and matrices.</a:t>
            </a:r>
            <a:endParaRPr sz="700"/>
          </a:p>
          <a:p>
            <a:pPr indent="-184150" lvl="1" marL="3683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Vectorized operations (element-wise operations without loops).</a:t>
            </a:r>
            <a:endParaRPr sz="700"/>
          </a:p>
          <a:p>
            <a:pPr indent="-184150" lvl="1" marL="3683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Efficient memory usage and broadcasting.</a:t>
            </a:r>
            <a:endParaRPr sz="700"/>
          </a:p>
          <a:p>
            <a:pPr indent="0" lvl="0" marL="0" marR="0" rtl="0" algn="r">
              <a:lnSpc>
                <a:spcPct val="3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5134463" y="4206663"/>
            <a:ext cx="3729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Importing Numpy: </a:t>
            </a:r>
            <a:endParaRPr sz="17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numpy</a:t>
            </a:r>
            <a:r>
              <a:rPr b="0" i="0" lang="en" sz="1700" u="none" cap="none" strike="noStrike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 as</a:t>
            </a: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np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7"/>
          <p:cNvGrpSpPr/>
          <p:nvPr/>
        </p:nvGrpSpPr>
        <p:grpSpPr>
          <a:xfrm>
            <a:off x="0" y="-18605"/>
            <a:ext cx="502838" cy="5162105"/>
            <a:chOff x="0" y="-66675"/>
            <a:chExt cx="373847" cy="3023001"/>
          </a:xfrm>
        </p:grpSpPr>
        <p:sp>
          <p:nvSpPr>
            <p:cNvPr id="158" name="Google Shape;158;p27"/>
            <p:cNvSpPr/>
            <p:nvPr/>
          </p:nvSpPr>
          <p:spPr>
            <a:xfrm>
              <a:off x="0" y="0"/>
              <a:ext cx="373847" cy="2956326"/>
            </a:xfrm>
            <a:custGeom>
              <a:rect b="b" l="l" r="r" t="t"/>
              <a:pathLst>
                <a:path extrusionOk="0" h="2956326" w="373847">
                  <a:moveTo>
                    <a:pt x="0" y="0"/>
                  </a:moveTo>
                  <a:lnTo>
                    <a:pt x="373847" y="0"/>
                  </a:lnTo>
                  <a:lnTo>
                    <a:pt x="373847" y="2956326"/>
                  </a:lnTo>
                  <a:lnTo>
                    <a:pt x="0" y="2956326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59" name="Google Shape;159;p27"/>
            <p:cNvSpPr txBox="1"/>
            <p:nvPr/>
          </p:nvSpPr>
          <p:spPr>
            <a:xfrm>
              <a:off x="0" y="-66675"/>
              <a:ext cx="373847" cy="3023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27"/>
          <p:cNvSpPr/>
          <p:nvPr/>
        </p:nvSpPr>
        <p:spPr>
          <a:xfrm>
            <a:off x="6019800" y="0"/>
            <a:ext cx="3124200" cy="5143500"/>
          </a:xfrm>
          <a:custGeom>
            <a:rect b="b" l="l" r="r" t="t"/>
            <a:pathLst>
              <a:path extrusionOk="0" h="914400" w="607701">
                <a:moveTo>
                  <a:pt x="0" y="0"/>
                </a:moveTo>
                <a:lnTo>
                  <a:pt x="607701" y="0"/>
                </a:lnTo>
                <a:lnTo>
                  <a:pt x="607701" y="914400"/>
                </a:lnTo>
                <a:lnTo>
                  <a:pt x="0" y="914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9456" r="-21007" t="0"/>
            </a:stretch>
          </a:blipFill>
          <a:ln>
            <a:noFill/>
          </a:ln>
        </p:spPr>
      </p:sp>
      <p:sp>
        <p:nvSpPr>
          <p:cNvPr id="161" name="Google Shape;161;p27"/>
          <p:cNvSpPr txBox="1"/>
          <p:nvPr/>
        </p:nvSpPr>
        <p:spPr>
          <a:xfrm>
            <a:off x="3385389" y="1091336"/>
            <a:ext cx="207736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700"/>
          </a:p>
        </p:txBody>
      </p:sp>
      <p:grpSp>
        <p:nvGrpSpPr>
          <p:cNvPr id="162" name="Google Shape;162;p27"/>
          <p:cNvGrpSpPr/>
          <p:nvPr/>
        </p:nvGrpSpPr>
        <p:grpSpPr>
          <a:xfrm>
            <a:off x="13702" y="1185107"/>
            <a:ext cx="400629" cy="400629"/>
            <a:chOff x="0" y="0"/>
            <a:chExt cx="812800" cy="812800"/>
          </a:xfrm>
        </p:grpSpPr>
        <p:sp>
          <p:nvSpPr>
            <p:cNvPr id="163" name="Google Shape;163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4F7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27"/>
          <p:cNvSpPr txBox="1"/>
          <p:nvPr/>
        </p:nvSpPr>
        <p:spPr>
          <a:xfrm>
            <a:off x="911221" y="2897604"/>
            <a:ext cx="207736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700"/>
          </a:p>
        </p:txBody>
      </p:sp>
      <p:grpSp>
        <p:nvGrpSpPr>
          <p:cNvPr id="166" name="Google Shape;166;p27"/>
          <p:cNvGrpSpPr/>
          <p:nvPr/>
        </p:nvGrpSpPr>
        <p:grpSpPr>
          <a:xfrm>
            <a:off x="51102" y="2897596"/>
            <a:ext cx="400629" cy="400629"/>
            <a:chOff x="0" y="0"/>
            <a:chExt cx="812800" cy="812800"/>
          </a:xfrm>
        </p:grpSpPr>
        <p:sp>
          <p:nvSpPr>
            <p:cNvPr id="167" name="Google Shape;167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27"/>
          <p:cNvSpPr txBox="1"/>
          <p:nvPr/>
        </p:nvSpPr>
        <p:spPr>
          <a:xfrm>
            <a:off x="3385389" y="2897604"/>
            <a:ext cx="207736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700"/>
          </a:p>
        </p:txBody>
      </p:sp>
      <p:sp>
        <p:nvSpPr>
          <p:cNvPr id="170" name="Google Shape;170;p27"/>
          <p:cNvSpPr/>
          <p:nvPr/>
        </p:nvSpPr>
        <p:spPr>
          <a:xfrm>
            <a:off x="762416" y="272551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1" name="Google Shape;171;p27"/>
          <p:cNvGrpSpPr/>
          <p:nvPr/>
        </p:nvGrpSpPr>
        <p:grpSpPr>
          <a:xfrm>
            <a:off x="51102" y="4204854"/>
            <a:ext cx="400629" cy="400629"/>
            <a:chOff x="0" y="0"/>
            <a:chExt cx="812800" cy="812800"/>
          </a:xfrm>
        </p:grpSpPr>
        <p:sp>
          <p:nvSpPr>
            <p:cNvPr id="172" name="Google Shape;172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142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27"/>
          <p:cNvSpPr txBox="1"/>
          <p:nvPr/>
        </p:nvSpPr>
        <p:spPr>
          <a:xfrm>
            <a:off x="502825" y="752325"/>
            <a:ext cx="5755800" cy="43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we create NumPy arrays:</a:t>
            </a:r>
            <a:endParaRPr sz="7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np.array()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creates arrays from lists.</a:t>
            </a:r>
            <a:endParaRPr sz="7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1D array: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a = np.array([1, 2, 3])</a:t>
            </a:r>
            <a:endParaRPr sz="700"/>
          </a:p>
          <a:p>
            <a:pPr indent="0" lvl="0" marL="0" marR="0" rtl="0" algn="l">
              <a:lnSpc>
                <a:spcPct val="20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2D array (Matrix):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b = np.array([[1, 2], [3, 4]])</a:t>
            </a:r>
            <a:endParaRPr sz="7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np.arange(start, stop, step)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works like Python’s range but returns an array.</a:t>
            </a:r>
            <a:endParaRPr sz="7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 of numbers: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 = np.arange(0, 10, 2)</a:t>
            </a:r>
            <a:endParaRPr sz="7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np.linspace(start, stop, num)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returns evenly spaced values between two numbers.</a:t>
            </a:r>
            <a:endParaRPr sz="700"/>
          </a:p>
          <a:p>
            <a:pPr indent="0" lvl="0" marL="0" marR="0" rtl="0" algn="l">
              <a:lnSpc>
                <a:spcPct val="18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1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Evenly spaced numbers: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g = np.linspace(0, 1, 5)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42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/>
          <p:nvPr/>
        </p:nvSpPr>
        <p:spPr>
          <a:xfrm>
            <a:off x="0" y="0"/>
            <a:ext cx="9144000" cy="2571750"/>
          </a:xfrm>
          <a:custGeom>
            <a:rect b="b" l="l" r="r" t="t"/>
            <a:pathLst>
              <a:path extrusionOk="0" h="498880" w="1677700">
                <a:moveTo>
                  <a:pt x="0" y="0"/>
                </a:moveTo>
                <a:lnTo>
                  <a:pt x="1677700" y="0"/>
                </a:lnTo>
                <a:lnTo>
                  <a:pt x="1677700" y="498880"/>
                </a:lnTo>
                <a:lnTo>
                  <a:pt x="0" y="49888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2229" l="0" r="0" t="-62232"/>
            </a:stretch>
          </a:blipFill>
          <a:ln>
            <a:noFill/>
          </a:ln>
        </p:spPr>
      </p:sp>
      <p:sp>
        <p:nvSpPr>
          <p:cNvPr id="180" name="Google Shape;180;p28"/>
          <p:cNvSpPr txBox="1"/>
          <p:nvPr/>
        </p:nvSpPr>
        <p:spPr>
          <a:xfrm>
            <a:off x="5600700" y="1085850"/>
            <a:ext cx="3408296" cy="884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Aggregation Functions</a:t>
            </a:r>
            <a:endParaRPr sz="700"/>
          </a:p>
        </p:txBody>
      </p:sp>
      <p:sp>
        <p:nvSpPr>
          <p:cNvPr id="181" name="Google Shape;181;p28"/>
          <p:cNvSpPr txBox="1"/>
          <p:nvPr/>
        </p:nvSpPr>
        <p:spPr>
          <a:xfrm>
            <a:off x="114097" y="3094458"/>
            <a:ext cx="2960924" cy="1407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Aggregation functions operate over the entire array or along an axis.</a:t>
            </a:r>
            <a:endParaRPr sz="7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axis=0: Down the columns.</a:t>
            </a:r>
            <a:endParaRPr sz="7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axis=1: Across the rows.</a:t>
            </a:r>
            <a:endParaRPr sz="700"/>
          </a:p>
        </p:txBody>
      </p:sp>
      <p:sp>
        <p:nvSpPr>
          <p:cNvPr id="182" name="Google Shape;182;p28"/>
          <p:cNvSpPr txBox="1"/>
          <p:nvPr/>
        </p:nvSpPr>
        <p:spPr>
          <a:xfrm>
            <a:off x="3433500" y="2690800"/>
            <a:ext cx="5710500" cy="23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="1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xample:</a:t>
            </a:r>
            <a:endParaRPr sz="6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= np.array([[1, 2, 3], [4, 5, 6]])</a:t>
            </a:r>
            <a:endParaRPr sz="6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print(np.sum(data))       # Total sum → 21</a:t>
            </a:r>
            <a:endParaRPr sz="6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print(np.mean(data))      # Mean → 3.5</a:t>
            </a:r>
            <a:endParaRPr sz="6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print(np.max(data))       # Max → 6</a:t>
            </a:r>
            <a:endParaRPr sz="6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print(np.sum(data, axis=0))# Column-wise sum → [5 7 9]</a:t>
            </a:r>
            <a:endParaRPr sz="6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print(np.sum(data, axis=1))# Row-wise sum → [6 15]</a:t>
            </a:r>
            <a:endParaRPr b="0" i="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685800" y="323850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9"/>
          <p:cNvGrpSpPr/>
          <p:nvPr/>
        </p:nvGrpSpPr>
        <p:grpSpPr>
          <a:xfrm>
            <a:off x="14288" y="-167604"/>
            <a:ext cx="690188" cy="5264560"/>
            <a:chOff x="0" y="-66675"/>
            <a:chExt cx="363555" cy="2899505"/>
          </a:xfrm>
        </p:grpSpPr>
        <p:sp>
          <p:nvSpPr>
            <p:cNvPr id="189" name="Google Shape;189;p29"/>
            <p:cNvSpPr/>
            <p:nvPr/>
          </p:nvSpPr>
          <p:spPr>
            <a:xfrm>
              <a:off x="0" y="0"/>
              <a:ext cx="363555" cy="2832830"/>
            </a:xfrm>
            <a:custGeom>
              <a:rect b="b" l="l" r="r" t="t"/>
              <a:pathLst>
                <a:path extrusionOk="0" h="2832830" w="363555">
                  <a:moveTo>
                    <a:pt x="0" y="0"/>
                  </a:moveTo>
                  <a:lnTo>
                    <a:pt x="363555" y="0"/>
                  </a:lnTo>
                  <a:lnTo>
                    <a:pt x="363555" y="2832830"/>
                  </a:lnTo>
                  <a:lnTo>
                    <a:pt x="0" y="2832830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90" name="Google Shape;190;p29"/>
            <p:cNvSpPr txBox="1"/>
            <p:nvPr/>
          </p:nvSpPr>
          <p:spPr>
            <a:xfrm>
              <a:off x="0" y="-66675"/>
              <a:ext cx="363555" cy="2899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29"/>
          <p:cNvGrpSpPr/>
          <p:nvPr/>
        </p:nvGrpSpPr>
        <p:grpSpPr>
          <a:xfrm>
            <a:off x="3009900" y="198389"/>
            <a:ext cx="5627812" cy="2106661"/>
            <a:chOff x="0" y="-66675"/>
            <a:chExt cx="2324777" cy="1109682"/>
          </a:xfrm>
        </p:grpSpPr>
        <p:sp>
          <p:nvSpPr>
            <p:cNvPr id="192" name="Google Shape;192;p29"/>
            <p:cNvSpPr/>
            <p:nvPr/>
          </p:nvSpPr>
          <p:spPr>
            <a:xfrm>
              <a:off x="0" y="0"/>
              <a:ext cx="2324777" cy="1043007"/>
            </a:xfrm>
            <a:custGeom>
              <a:rect b="b" l="l" r="r" t="t"/>
              <a:pathLst>
                <a:path extrusionOk="0" h="1043007" w="2324777">
                  <a:moveTo>
                    <a:pt x="19296" y="0"/>
                  </a:moveTo>
                  <a:lnTo>
                    <a:pt x="2305481" y="0"/>
                  </a:lnTo>
                  <a:cubicBezTo>
                    <a:pt x="2310599" y="0"/>
                    <a:pt x="2315507" y="2033"/>
                    <a:pt x="2319126" y="5652"/>
                  </a:cubicBezTo>
                  <a:cubicBezTo>
                    <a:pt x="2322744" y="9270"/>
                    <a:pt x="2324777" y="14178"/>
                    <a:pt x="2324777" y="19296"/>
                  </a:cubicBezTo>
                  <a:lnTo>
                    <a:pt x="2324777" y="1023711"/>
                  </a:lnTo>
                  <a:cubicBezTo>
                    <a:pt x="2324777" y="1028828"/>
                    <a:pt x="2322744" y="1033736"/>
                    <a:pt x="2319126" y="1037355"/>
                  </a:cubicBezTo>
                  <a:cubicBezTo>
                    <a:pt x="2315507" y="1040974"/>
                    <a:pt x="2310599" y="1043007"/>
                    <a:pt x="2305481" y="1043007"/>
                  </a:cubicBezTo>
                  <a:lnTo>
                    <a:pt x="19296" y="1043007"/>
                  </a:lnTo>
                  <a:cubicBezTo>
                    <a:pt x="14178" y="1043007"/>
                    <a:pt x="9270" y="1040974"/>
                    <a:pt x="5652" y="1037355"/>
                  </a:cubicBezTo>
                  <a:cubicBezTo>
                    <a:pt x="2033" y="1033736"/>
                    <a:pt x="0" y="1028828"/>
                    <a:pt x="0" y="1023711"/>
                  </a:cubicBezTo>
                  <a:lnTo>
                    <a:pt x="0" y="19296"/>
                  </a:lnTo>
                  <a:cubicBezTo>
                    <a:pt x="0" y="14178"/>
                    <a:pt x="2033" y="9270"/>
                    <a:pt x="5652" y="5652"/>
                  </a:cubicBezTo>
                  <a:cubicBezTo>
                    <a:pt x="9270" y="2033"/>
                    <a:pt x="14178" y="0"/>
                    <a:pt x="19296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01627">
                    <a:alpha val="0"/>
                  </a:srgbClr>
                </a:gs>
              </a:gsLst>
              <a:lin ang="2700000" scaled="0"/>
            </a:gradFill>
            <a:ln cap="rnd" cmpd="sng" w="19050">
              <a:solidFill>
                <a:srgbClr val="2D8B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9"/>
            <p:cNvSpPr txBox="1"/>
            <p:nvPr/>
          </p:nvSpPr>
          <p:spPr>
            <a:xfrm>
              <a:off x="0" y="-66675"/>
              <a:ext cx="2324777" cy="1109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9"/>
          <p:cNvSpPr/>
          <p:nvPr/>
        </p:nvSpPr>
        <p:spPr>
          <a:xfrm>
            <a:off x="1627827" y="1081832"/>
            <a:ext cx="458722" cy="466353"/>
          </a:xfrm>
          <a:custGeom>
            <a:rect b="b" l="l" r="r" t="t"/>
            <a:pathLst>
              <a:path extrusionOk="0" h="932706" w="917444">
                <a:moveTo>
                  <a:pt x="0" y="0"/>
                </a:moveTo>
                <a:lnTo>
                  <a:pt x="917444" y="0"/>
                </a:lnTo>
                <a:lnTo>
                  <a:pt x="917444" y="932706"/>
                </a:lnTo>
                <a:lnTo>
                  <a:pt x="0" y="932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29"/>
          <p:cNvGrpSpPr/>
          <p:nvPr/>
        </p:nvGrpSpPr>
        <p:grpSpPr>
          <a:xfrm>
            <a:off x="3009901" y="2834346"/>
            <a:ext cx="5619750" cy="2109922"/>
            <a:chOff x="0" y="-66675"/>
            <a:chExt cx="2324777" cy="1111399"/>
          </a:xfrm>
        </p:grpSpPr>
        <p:sp>
          <p:nvSpPr>
            <p:cNvPr id="196" name="Google Shape;196;p29"/>
            <p:cNvSpPr/>
            <p:nvPr/>
          </p:nvSpPr>
          <p:spPr>
            <a:xfrm>
              <a:off x="0" y="0"/>
              <a:ext cx="2324777" cy="1044724"/>
            </a:xfrm>
            <a:custGeom>
              <a:rect b="b" l="l" r="r" t="t"/>
              <a:pathLst>
                <a:path extrusionOk="0" h="1044724" w="2324777">
                  <a:moveTo>
                    <a:pt x="19296" y="0"/>
                  </a:moveTo>
                  <a:lnTo>
                    <a:pt x="2305481" y="0"/>
                  </a:lnTo>
                  <a:cubicBezTo>
                    <a:pt x="2310599" y="0"/>
                    <a:pt x="2315507" y="2033"/>
                    <a:pt x="2319126" y="5652"/>
                  </a:cubicBezTo>
                  <a:cubicBezTo>
                    <a:pt x="2322744" y="9270"/>
                    <a:pt x="2324777" y="14178"/>
                    <a:pt x="2324777" y="19296"/>
                  </a:cubicBezTo>
                  <a:lnTo>
                    <a:pt x="2324777" y="1025429"/>
                  </a:lnTo>
                  <a:cubicBezTo>
                    <a:pt x="2324777" y="1030546"/>
                    <a:pt x="2322744" y="1035454"/>
                    <a:pt x="2319126" y="1039073"/>
                  </a:cubicBezTo>
                  <a:cubicBezTo>
                    <a:pt x="2315507" y="1042691"/>
                    <a:pt x="2310599" y="1044724"/>
                    <a:pt x="2305481" y="1044724"/>
                  </a:cubicBezTo>
                  <a:lnTo>
                    <a:pt x="19296" y="1044724"/>
                  </a:lnTo>
                  <a:cubicBezTo>
                    <a:pt x="14178" y="1044724"/>
                    <a:pt x="9270" y="1042691"/>
                    <a:pt x="5652" y="1039073"/>
                  </a:cubicBezTo>
                  <a:cubicBezTo>
                    <a:pt x="2033" y="1035454"/>
                    <a:pt x="0" y="1030546"/>
                    <a:pt x="0" y="1025429"/>
                  </a:cubicBezTo>
                  <a:lnTo>
                    <a:pt x="0" y="19296"/>
                  </a:lnTo>
                  <a:cubicBezTo>
                    <a:pt x="0" y="14178"/>
                    <a:pt x="2033" y="9270"/>
                    <a:pt x="5652" y="5652"/>
                  </a:cubicBezTo>
                  <a:cubicBezTo>
                    <a:pt x="9270" y="2033"/>
                    <a:pt x="14178" y="0"/>
                    <a:pt x="19296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01627">
                    <a:alpha val="0"/>
                  </a:srgbClr>
                </a:gs>
              </a:gsLst>
              <a:lin ang="2700000" scaled="0"/>
            </a:gradFill>
            <a:ln cap="rnd" cmpd="sng" w="19050">
              <a:solidFill>
                <a:srgbClr val="2D8B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9"/>
            <p:cNvSpPr txBox="1"/>
            <p:nvPr/>
          </p:nvSpPr>
          <p:spPr>
            <a:xfrm>
              <a:off x="0" y="-66675"/>
              <a:ext cx="2324777" cy="1111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29"/>
          <p:cNvSpPr/>
          <p:nvPr/>
        </p:nvSpPr>
        <p:spPr>
          <a:xfrm>
            <a:off x="1627827" y="3639012"/>
            <a:ext cx="458722" cy="500589"/>
          </a:xfrm>
          <a:custGeom>
            <a:rect b="b" l="l" r="r" t="t"/>
            <a:pathLst>
              <a:path extrusionOk="0" h="1001179" w="917444">
                <a:moveTo>
                  <a:pt x="0" y="0"/>
                </a:moveTo>
                <a:lnTo>
                  <a:pt x="917444" y="0"/>
                </a:lnTo>
                <a:lnTo>
                  <a:pt x="917444" y="1001178"/>
                </a:lnTo>
                <a:lnTo>
                  <a:pt x="0" y="100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29"/>
          <p:cNvSpPr txBox="1"/>
          <p:nvPr/>
        </p:nvSpPr>
        <p:spPr>
          <a:xfrm>
            <a:off x="611597" y="2354204"/>
            <a:ext cx="3392904" cy="511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Array Attributes</a:t>
            </a:r>
            <a:endParaRPr sz="700"/>
          </a:p>
        </p:txBody>
      </p:sp>
      <p:sp>
        <p:nvSpPr>
          <p:cNvPr id="200" name="Google Shape;200;p29"/>
          <p:cNvSpPr/>
          <p:nvPr/>
        </p:nvSpPr>
        <p:spPr>
          <a:xfrm>
            <a:off x="606517" y="324968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0"/>
                </a:lnTo>
                <a:lnTo>
                  <a:pt x="0" y="757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29"/>
          <p:cNvSpPr txBox="1"/>
          <p:nvPr/>
        </p:nvSpPr>
        <p:spPr>
          <a:xfrm>
            <a:off x="3276600" y="3027625"/>
            <a:ext cx="52155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rr = np.array([[1, 2, 3], [4, 5, 6]])</a:t>
            </a:r>
            <a:endParaRPr sz="400"/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print(arr.shape)  # (2, 3) → 2 rows, 3 columns</a:t>
            </a:r>
            <a:endParaRPr sz="400"/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print(arr.ndim)   # 2 → two-dimensional</a:t>
            </a:r>
            <a:endParaRPr sz="400"/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print(arr.size)   # 6 → total number of elements</a:t>
            </a:r>
            <a:endParaRPr sz="400"/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print(arr.dtype)  # int64 → data type of elements</a:t>
            </a:r>
            <a:endParaRPr sz="400"/>
          </a:p>
        </p:txBody>
      </p:sp>
      <p:sp>
        <p:nvSpPr>
          <p:cNvPr id="202" name="Google Shape;202;p29"/>
          <p:cNvSpPr txBox="1"/>
          <p:nvPr/>
        </p:nvSpPr>
        <p:spPr>
          <a:xfrm>
            <a:off x="3276600" y="404736"/>
            <a:ext cx="51168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hape: Dimensions of the array.</a:t>
            </a:r>
            <a:endParaRPr sz="5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ndim: Number of dimensions (axes).</a:t>
            </a:r>
            <a:endParaRPr sz="5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size: Total number of elements.</a:t>
            </a:r>
            <a:endParaRPr sz="5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dtype: Data type (e.g., int, float).</a:t>
            </a:r>
            <a:endParaRPr sz="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30"/>
          <p:cNvGrpSpPr/>
          <p:nvPr/>
        </p:nvGrpSpPr>
        <p:grpSpPr>
          <a:xfrm>
            <a:off x="628873" y="1001846"/>
            <a:ext cx="3977475" cy="1569876"/>
            <a:chOff x="0" y="-66675"/>
            <a:chExt cx="2095172" cy="826947"/>
          </a:xfrm>
        </p:grpSpPr>
        <p:sp>
          <p:nvSpPr>
            <p:cNvPr id="208" name="Google Shape;208;p30"/>
            <p:cNvSpPr/>
            <p:nvPr/>
          </p:nvSpPr>
          <p:spPr>
            <a:xfrm>
              <a:off x="0" y="0"/>
              <a:ext cx="2095172" cy="760272"/>
            </a:xfrm>
            <a:custGeom>
              <a:rect b="b" l="l" r="r" t="t"/>
              <a:pathLst>
                <a:path extrusionOk="0" h="760272" w="2095172">
                  <a:moveTo>
                    <a:pt x="19464" y="0"/>
                  </a:moveTo>
                  <a:lnTo>
                    <a:pt x="2075708" y="0"/>
                  </a:lnTo>
                  <a:cubicBezTo>
                    <a:pt x="2080870" y="0"/>
                    <a:pt x="2085821" y="2051"/>
                    <a:pt x="2089471" y="5701"/>
                  </a:cubicBezTo>
                  <a:cubicBezTo>
                    <a:pt x="2093122" y="9351"/>
                    <a:pt x="2095172" y="14302"/>
                    <a:pt x="2095172" y="19464"/>
                  </a:cubicBezTo>
                  <a:lnTo>
                    <a:pt x="2095172" y="740808"/>
                  </a:lnTo>
                  <a:cubicBezTo>
                    <a:pt x="2095172" y="745970"/>
                    <a:pt x="2093122" y="750921"/>
                    <a:pt x="2089471" y="754571"/>
                  </a:cubicBezTo>
                  <a:cubicBezTo>
                    <a:pt x="2085821" y="758221"/>
                    <a:pt x="2080870" y="760272"/>
                    <a:pt x="2075708" y="760272"/>
                  </a:cubicBezTo>
                  <a:lnTo>
                    <a:pt x="19464" y="760272"/>
                  </a:lnTo>
                  <a:cubicBezTo>
                    <a:pt x="14302" y="760272"/>
                    <a:pt x="9351" y="758221"/>
                    <a:pt x="5701" y="754571"/>
                  </a:cubicBezTo>
                  <a:cubicBezTo>
                    <a:pt x="2051" y="750921"/>
                    <a:pt x="0" y="745970"/>
                    <a:pt x="0" y="740808"/>
                  </a:cubicBezTo>
                  <a:lnTo>
                    <a:pt x="0" y="19464"/>
                  </a:lnTo>
                  <a:cubicBezTo>
                    <a:pt x="0" y="14302"/>
                    <a:pt x="2051" y="9351"/>
                    <a:pt x="5701" y="5701"/>
                  </a:cubicBezTo>
                  <a:cubicBezTo>
                    <a:pt x="9351" y="2051"/>
                    <a:pt x="14302" y="0"/>
                    <a:pt x="19464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0"/>
            <p:cNvSpPr txBox="1"/>
            <p:nvPr/>
          </p:nvSpPr>
          <p:spPr>
            <a:xfrm>
              <a:off x="0" y="-66675"/>
              <a:ext cx="2095172" cy="826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30"/>
          <p:cNvGrpSpPr/>
          <p:nvPr/>
        </p:nvGrpSpPr>
        <p:grpSpPr>
          <a:xfrm>
            <a:off x="-1" y="-120187"/>
            <a:ext cx="579906" cy="5263687"/>
            <a:chOff x="0" y="-66675"/>
            <a:chExt cx="415012" cy="2920087"/>
          </a:xfrm>
        </p:grpSpPr>
        <p:sp>
          <p:nvSpPr>
            <p:cNvPr id="211" name="Google Shape;211;p30"/>
            <p:cNvSpPr/>
            <p:nvPr/>
          </p:nvSpPr>
          <p:spPr>
            <a:xfrm>
              <a:off x="0" y="0"/>
              <a:ext cx="415012" cy="2853412"/>
            </a:xfrm>
            <a:custGeom>
              <a:rect b="b" l="l" r="r" t="t"/>
              <a:pathLst>
                <a:path extrusionOk="0" h="2853412" w="415012">
                  <a:moveTo>
                    <a:pt x="0" y="0"/>
                  </a:moveTo>
                  <a:lnTo>
                    <a:pt x="415012" y="0"/>
                  </a:lnTo>
                  <a:lnTo>
                    <a:pt x="415012" y="2853412"/>
                  </a:lnTo>
                  <a:lnTo>
                    <a:pt x="0" y="2853412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2" name="Google Shape;212;p30"/>
            <p:cNvSpPr txBox="1"/>
            <p:nvPr/>
          </p:nvSpPr>
          <p:spPr>
            <a:xfrm>
              <a:off x="0" y="-66675"/>
              <a:ext cx="415012" cy="292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30"/>
          <p:cNvSpPr/>
          <p:nvPr/>
        </p:nvSpPr>
        <p:spPr>
          <a:xfrm>
            <a:off x="4655395" y="1204622"/>
            <a:ext cx="4488406" cy="4014337"/>
          </a:xfrm>
          <a:custGeom>
            <a:rect b="b" l="l" r="r" t="t"/>
            <a:pathLst>
              <a:path extrusionOk="0" h="690045" w="763984">
                <a:moveTo>
                  <a:pt x="0" y="0"/>
                </a:moveTo>
                <a:lnTo>
                  <a:pt x="763984" y="0"/>
                </a:lnTo>
                <a:lnTo>
                  <a:pt x="763984" y="690045"/>
                </a:lnTo>
                <a:lnTo>
                  <a:pt x="0" y="69004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5610" r="-35610" t="0"/>
            </a:stretch>
          </a:blipFill>
          <a:ln>
            <a:noFill/>
          </a:ln>
        </p:spPr>
      </p:sp>
      <p:sp>
        <p:nvSpPr>
          <p:cNvPr id="214" name="Google Shape;214;p30"/>
          <p:cNvSpPr txBox="1"/>
          <p:nvPr/>
        </p:nvSpPr>
        <p:spPr>
          <a:xfrm>
            <a:off x="674543" y="577876"/>
            <a:ext cx="7955107" cy="48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4F7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Arithmetic with Arrays</a:t>
            </a:r>
            <a:endParaRPr sz="700"/>
          </a:p>
        </p:txBody>
      </p:sp>
      <p:sp>
        <p:nvSpPr>
          <p:cNvPr id="215" name="Google Shape;215;p30"/>
          <p:cNvSpPr txBox="1"/>
          <p:nvPr/>
        </p:nvSpPr>
        <p:spPr>
          <a:xfrm>
            <a:off x="825300" y="1313062"/>
            <a:ext cx="35847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Arrays support element-wise arithmetic (addition, multiplication).  Operations are vectorized so no need for loops. We use np.sqrt() for square root and ** for power.</a:t>
            </a:r>
            <a:endParaRPr sz="600"/>
          </a:p>
        </p:txBody>
      </p:sp>
      <p:sp>
        <p:nvSpPr>
          <p:cNvPr id="216" name="Google Shape;216;p30"/>
          <p:cNvSpPr txBox="1"/>
          <p:nvPr/>
        </p:nvSpPr>
        <p:spPr>
          <a:xfrm>
            <a:off x="725842" y="2857182"/>
            <a:ext cx="3926400" cy="2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 = np.array([1, 2, 3])</a:t>
            </a:r>
            <a:endParaRPr sz="5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 = np.array([4, 5, 6])</a:t>
            </a:r>
            <a:endParaRPr sz="5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print(x + y)    # [5 7 9]</a:t>
            </a:r>
            <a:endParaRPr sz="5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print(x * y)    # [4 10 18]</a:t>
            </a:r>
            <a:endParaRPr sz="5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print(x ** 2)   # [1 4 9]</a:t>
            </a:r>
            <a:endParaRPr sz="500"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print(np.sqrt(y))# [2.0 2.236 2.449]</a:t>
            </a:r>
            <a:endParaRPr sz="500"/>
          </a:p>
        </p:txBody>
      </p:sp>
      <p:sp>
        <p:nvSpPr>
          <p:cNvPr id="217" name="Google Shape;217;p30"/>
          <p:cNvSpPr/>
          <p:nvPr/>
        </p:nvSpPr>
        <p:spPr>
          <a:xfrm>
            <a:off x="725841" y="249561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30"/>
          <p:cNvSpPr txBox="1"/>
          <p:nvPr/>
        </p:nvSpPr>
        <p:spPr>
          <a:xfrm>
            <a:off x="1114865" y="2600325"/>
            <a:ext cx="956370" cy="29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/>
          <p:nvPr/>
        </p:nvSpPr>
        <p:spPr>
          <a:xfrm>
            <a:off x="0" y="3048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1" l="0" r="0" t="-83411"/>
            </a:stretch>
          </a:blipFill>
          <a:ln>
            <a:noFill/>
          </a:ln>
        </p:spPr>
      </p:sp>
      <p:grpSp>
        <p:nvGrpSpPr>
          <p:cNvPr id="224" name="Google Shape;224;p31"/>
          <p:cNvGrpSpPr/>
          <p:nvPr/>
        </p:nvGrpSpPr>
        <p:grpSpPr>
          <a:xfrm rot="5400000">
            <a:off x="4518803" y="140828"/>
            <a:ext cx="514350" cy="9551956"/>
            <a:chOff x="0" y="-66675"/>
            <a:chExt cx="341306" cy="5183611"/>
          </a:xfrm>
        </p:grpSpPr>
        <p:sp>
          <p:nvSpPr>
            <p:cNvPr id="225" name="Google Shape;225;p31"/>
            <p:cNvSpPr/>
            <p:nvPr/>
          </p:nvSpPr>
          <p:spPr>
            <a:xfrm>
              <a:off x="0" y="0"/>
              <a:ext cx="341306" cy="5116936"/>
            </a:xfrm>
            <a:custGeom>
              <a:rect b="b" l="l" r="r" t="t"/>
              <a:pathLst>
                <a:path extrusionOk="0" h="5116936" w="341306">
                  <a:moveTo>
                    <a:pt x="0" y="0"/>
                  </a:moveTo>
                  <a:lnTo>
                    <a:pt x="341306" y="0"/>
                  </a:lnTo>
                  <a:lnTo>
                    <a:pt x="341306" y="5116936"/>
                  </a:lnTo>
                  <a:lnTo>
                    <a:pt x="0" y="5116936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6" name="Google Shape;226;p31"/>
            <p:cNvSpPr txBox="1"/>
            <p:nvPr/>
          </p:nvSpPr>
          <p:spPr>
            <a:xfrm>
              <a:off x="0" y="-66675"/>
              <a:ext cx="341306" cy="5183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31"/>
          <p:cNvSpPr/>
          <p:nvPr/>
        </p:nvSpPr>
        <p:spPr>
          <a:xfrm>
            <a:off x="307396" y="393182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31"/>
          <p:cNvSpPr txBox="1"/>
          <p:nvPr/>
        </p:nvSpPr>
        <p:spPr>
          <a:xfrm>
            <a:off x="707861" y="1733550"/>
            <a:ext cx="7728279" cy="2712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PANDAS: DATA EXPLORATION WITH PYTHON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42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/>
          <p:nvPr/>
        </p:nvSpPr>
        <p:spPr>
          <a:xfrm>
            <a:off x="4557711" y="3441513"/>
            <a:ext cx="4586290" cy="1701987"/>
          </a:xfrm>
          <a:custGeom>
            <a:rect b="b" l="l" r="r" t="t"/>
            <a:pathLst>
              <a:path extrusionOk="0" h="3403974" w="8143875">
                <a:moveTo>
                  <a:pt x="0" y="0"/>
                </a:moveTo>
                <a:lnTo>
                  <a:pt x="8143875" y="0"/>
                </a:lnTo>
                <a:lnTo>
                  <a:pt x="8143875" y="3403974"/>
                </a:lnTo>
                <a:lnTo>
                  <a:pt x="0" y="3403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32"/>
          <p:cNvSpPr/>
          <p:nvPr/>
        </p:nvSpPr>
        <p:spPr>
          <a:xfrm>
            <a:off x="0" y="0"/>
            <a:ext cx="4572000" cy="5143500"/>
          </a:xfrm>
          <a:custGeom>
            <a:rect b="b" l="l" r="r" t="t"/>
            <a:pathLst>
              <a:path extrusionOk="0" h="994287" w="864900">
                <a:moveTo>
                  <a:pt x="0" y="0"/>
                </a:moveTo>
                <a:lnTo>
                  <a:pt x="864900" y="0"/>
                </a:lnTo>
                <a:lnTo>
                  <a:pt x="864900" y="994287"/>
                </a:lnTo>
                <a:lnTo>
                  <a:pt x="0" y="99428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6433" r="-36433" t="0"/>
            </a:stretch>
          </a:blipFill>
          <a:ln>
            <a:noFill/>
          </a:ln>
        </p:spPr>
      </p:sp>
      <p:grpSp>
        <p:nvGrpSpPr>
          <p:cNvPr id="235" name="Google Shape;235;p32"/>
          <p:cNvGrpSpPr/>
          <p:nvPr/>
        </p:nvGrpSpPr>
        <p:grpSpPr>
          <a:xfrm>
            <a:off x="0" y="2493799"/>
            <a:ext cx="4572000" cy="2649701"/>
            <a:chOff x="0" y="-66675"/>
            <a:chExt cx="2562667" cy="1519509"/>
          </a:xfrm>
        </p:grpSpPr>
        <p:sp>
          <p:nvSpPr>
            <p:cNvPr id="236" name="Google Shape;236;p32"/>
            <p:cNvSpPr/>
            <p:nvPr/>
          </p:nvSpPr>
          <p:spPr>
            <a:xfrm>
              <a:off x="0" y="0"/>
              <a:ext cx="2562666" cy="1452834"/>
            </a:xfrm>
            <a:custGeom>
              <a:rect b="b" l="l" r="r" t="t"/>
              <a:pathLst>
                <a:path extrusionOk="0" h="1452834" w="2562666">
                  <a:moveTo>
                    <a:pt x="0" y="0"/>
                  </a:moveTo>
                  <a:lnTo>
                    <a:pt x="2562666" y="0"/>
                  </a:lnTo>
                  <a:lnTo>
                    <a:pt x="2562666" y="1452834"/>
                  </a:lnTo>
                  <a:lnTo>
                    <a:pt x="0" y="1452834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2142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7" name="Google Shape;237;p32"/>
            <p:cNvSpPr txBox="1"/>
            <p:nvPr/>
          </p:nvSpPr>
          <p:spPr>
            <a:xfrm>
              <a:off x="0" y="-66675"/>
              <a:ext cx="2562667" cy="15195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32"/>
          <p:cNvGrpSpPr/>
          <p:nvPr/>
        </p:nvGrpSpPr>
        <p:grpSpPr>
          <a:xfrm>
            <a:off x="8448563" y="1050481"/>
            <a:ext cx="709725" cy="4093019"/>
            <a:chOff x="0" y="-66675"/>
            <a:chExt cx="373847" cy="2155994"/>
          </a:xfrm>
        </p:grpSpPr>
        <p:sp>
          <p:nvSpPr>
            <p:cNvPr id="239" name="Google Shape;239;p32"/>
            <p:cNvSpPr/>
            <p:nvPr/>
          </p:nvSpPr>
          <p:spPr>
            <a:xfrm>
              <a:off x="0" y="0"/>
              <a:ext cx="373847" cy="2089319"/>
            </a:xfrm>
            <a:custGeom>
              <a:rect b="b" l="l" r="r" t="t"/>
              <a:pathLst>
                <a:path extrusionOk="0" h="2089319" w="373847">
                  <a:moveTo>
                    <a:pt x="0" y="0"/>
                  </a:moveTo>
                  <a:lnTo>
                    <a:pt x="373847" y="0"/>
                  </a:lnTo>
                  <a:lnTo>
                    <a:pt x="373847" y="2089319"/>
                  </a:lnTo>
                  <a:lnTo>
                    <a:pt x="0" y="2089319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40" name="Google Shape;240;p32"/>
            <p:cNvSpPr txBox="1"/>
            <p:nvPr/>
          </p:nvSpPr>
          <p:spPr>
            <a:xfrm>
              <a:off x="0" y="-66675"/>
              <a:ext cx="373847" cy="2155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32"/>
          <p:cNvSpPr txBox="1"/>
          <p:nvPr/>
        </p:nvSpPr>
        <p:spPr>
          <a:xfrm>
            <a:off x="514350" y="3533676"/>
            <a:ext cx="3814699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What is Pandas?</a:t>
            </a:r>
            <a:endParaRPr sz="700"/>
          </a:p>
        </p:txBody>
      </p:sp>
      <p:sp>
        <p:nvSpPr>
          <p:cNvPr id="242" name="Google Shape;242;p32"/>
          <p:cNvSpPr/>
          <p:nvPr/>
        </p:nvSpPr>
        <p:spPr>
          <a:xfrm>
            <a:off x="307396" y="393182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32"/>
          <p:cNvSpPr txBox="1"/>
          <p:nvPr/>
        </p:nvSpPr>
        <p:spPr>
          <a:xfrm>
            <a:off x="4865399" y="326686"/>
            <a:ext cx="3764251" cy="803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Pandas is a fast, flexible, and powerful library for data analysis and manipulation.</a:t>
            </a:r>
            <a:endParaRPr sz="700"/>
          </a:p>
        </p:txBody>
      </p:sp>
      <p:sp>
        <p:nvSpPr>
          <p:cNvPr id="244" name="Google Shape;244;p32"/>
          <p:cNvSpPr txBox="1"/>
          <p:nvPr/>
        </p:nvSpPr>
        <p:spPr>
          <a:xfrm>
            <a:off x="4865399" y="1555210"/>
            <a:ext cx="3749963" cy="182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4150" lvl="1" marL="3683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on top of NumPy.</a:t>
            </a:r>
            <a:endParaRPr sz="700"/>
          </a:p>
          <a:p>
            <a:pPr indent="-184150" lvl="1" marL="3683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main structures:</a:t>
            </a:r>
            <a:endParaRPr sz="700"/>
          </a:p>
          <a:p>
            <a:pPr indent="-184150" lvl="1" marL="3683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Series: One-dimensional labeled array.</a:t>
            </a:r>
            <a:endParaRPr sz="700"/>
          </a:p>
          <a:p>
            <a:pPr indent="-184150" lvl="1" marL="3683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DataFrame: Two-dimensional labeled table.</a:t>
            </a:r>
            <a:endParaRPr sz="700"/>
          </a:p>
          <a:p>
            <a:pPr indent="0" lvl="0" marL="0" marR="0" rtl="0" algn="r">
              <a:lnSpc>
                <a:spcPct val="3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4882874" y="3898901"/>
            <a:ext cx="3729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Importing pandas: 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pandas</a:t>
            </a:r>
            <a:r>
              <a:rPr b="0" i="0" lang="en" sz="1700" u="none" cap="none" strike="noStrike">
                <a:solidFill>
                  <a:srgbClr val="FF66C4"/>
                </a:solidFill>
                <a:latin typeface="Arial"/>
                <a:ea typeface="Arial"/>
                <a:cs typeface="Arial"/>
                <a:sym typeface="Arial"/>
              </a:rPr>
              <a:t> as</a:t>
            </a:r>
            <a:r>
              <a:rPr b="0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pd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3"/>
          <p:cNvGrpSpPr/>
          <p:nvPr/>
        </p:nvGrpSpPr>
        <p:grpSpPr>
          <a:xfrm>
            <a:off x="-175837" y="-245103"/>
            <a:ext cx="866025" cy="5504529"/>
            <a:chOff x="0" y="-66675"/>
            <a:chExt cx="456177" cy="2899505"/>
          </a:xfrm>
        </p:grpSpPr>
        <p:sp>
          <p:nvSpPr>
            <p:cNvPr id="251" name="Google Shape;251;p33"/>
            <p:cNvSpPr/>
            <p:nvPr/>
          </p:nvSpPr>
          <p:spPr>
            <a:xfrm>
              <a:off x="92622" y="-61063"/>
              <a:ext cx="363555" cy="2832830"/>
            </a:xfrm>
            <a:custGeom>
              <a:rect b="b" l="l" r="r" t="t"/>
              <a:pathLst>
                <a:path extrusionOk="0" h="2832830" w="363555">
                  <a:moveTo>
                    <a:pt x="0" y="0"/>
                  </a:moveTo>
                  <a:lnTo>
                    <a:pt x="363555" y="0"/>
                  </a:lnTo>
                  <a:lnTo>
                    <a:pt x="363555" y="2832830"/>
                  </a:lnTo>
                  <a:lnTo>
                    <a:pt x="0" y="2832830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52" name="Google Shape;252;p33"/>
            <p:cNvSpPr txBox="1"/>
            <p:nvPr/>
          </p:nvSpPr>
          <p:spPr>
            <a:xfrm>
              <a:off x="0" y="-66675"/>
              <a:ext cx="363555" cy="28995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33"/>
          <p:cNvGrpSpPr/>
          <p:nvPr/>
        </p:nvGrpSpPr>
        <p:grpSpPr>
          <a:xfrm>
            <a:off x="2979633" y="198389"/>
            <a:ext cx="5650018" cy="2106661"/>
            <a:chOff x="0" y="-66675"/>
            <a:chExt cx="2324777" cy="1109682"/>
          </a:xfrm>
        </p:grpSpPr>
        <p:sp>
          <p:nvSpPr>
            <p:cNvPr id="254" name="Google Shape;254;p33"/>
            <p:cNvSpPr/>
            <p:nvPr/>
          </p:nvSpPr>
          <p:spPr>
            <a:xfrm>
              <a:off x="0" y="0"/>
              <a:ext cx="2324777" cy="1043007"/>
            </a:xfrm>
            <a:custGeom>
              <a:rect b="b" l="l" r="r" t="t"/>
              <a:pathLst>
                <a:path extrusionOk="0" h="1043007" w="2324777">
                  <a:moveTo>
                    <a:pt x="19296" y="0"/>
                  </a:moveTo>
                  <a:lnTo>
                    <a:pt x="2305481" y="0"/>
                  </a:lnTo>
                  <a:cubicBezTo>
                    <a:pt x="2310599" y="0"/>
                    <a:pt x="2315507" y="2033"/>
                    <a:pt x="2319126" y="5652"/>
                  </a:cubicBezTo>
                  <a:cubicBezTo>
                    <a:pt x="2322744" y="9270"/>
                    <a:pt x="2324777" y="14178"/>
                    <a:pt x="2324777" y="19296"/>
                  </a:cubicBezTo>
                  <a:lnTo>
                    <a:pt x="2324777" y="1023711"/>
                  </a:lnTo>
                  <a:cubicBezTo>
                    <a:pt x="2324777" y="1028828"/>
                    <a:pt x="2322744" y="1033736"/>
                    <a:pt x="2319126" y="1037355"/>
                  </a:cubicBezTo>
                  <a:cubicBezTo>
                    <a:pt x="2315507" y="1040974"/>
                    <a:pt x="2310599" y="1043007"/>
                    <a:pt x="2305481" y="1043007"/>
                  </a:cubicBezTo>
                  <a:lnTo>
                    <a:pt x="19296" y="1043007"/>
                  </a:lnTo>
                  <a:cubicBezTo>
                    <a:pt x="14178" y="1043007"/>
                    <a:pt x="9270" y="1040974"/>
                    <a:pt x="5652" y="1037355"/>
                  </a:cubicBezTo>
                  <a:cubicBezTo>
                    <a:pt x="2033" y="1033736"/>
                    <a:pt x="0" y="1028828"/>
                    <a:pt x="0" y="1023711"/>
                  </a:cubicBezTo>
                  <a:lnTo>
                    <a:pt x="0" y="19296"/>
                  </a:lnTo>
                  <a:cubicBezTo>
                    <a:pt x="0" y="14178"/>
                    <a:pt x="2033" y="9270"/>
                    <a:pt x="5652" y="5652"/>
                  </a:cubicBezTo>
                  <a:cubicBezTo>
                    <a:pt x="9270" y="2033"/>
                    <a:pt x="14178" y="0"/>
                    <a:pt x="19296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01627">
                    <a:alpha val="0"/>
                  </a:srgbClr>
                </a:gs>
              </a:gsLst>
              <a:lin ang="2700000" scaled="0"/>
            </a:gradFill>
            <a:ln cap="rnd" cmpd="sng" w="19050">
              <a:solidFill>
                <a:srgbClr val="2D8B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3"/>
            <p:cNvSpPr txBox="1"/>
            <p:nvPr/>
          </p:nvSpPr>
          <p:spPr>
            <a:xfrm>
              <a:off x="0" y="-66675"/>
              <a:ext cx="2324777" cy="1109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33"/>
          <p:cNvSpPr/>
          <p:nvPr/>
        </p:nvSpPr>
        <p:spPr>
          <a:xfrm>
            <a:off x="1727031" y="1081832"/>
            <a:ext cx="458722" cy="466353"/>
          </a:xfrm>
          <a:custGeom>
            <a:rect b="b" l="l" r="r" t="t"/>
            <a:pathLst>
              <a:path extrusionOk="0" h="932706" w="917444">
                <a:moveTo>
                  <a:pt x="0" y="0"/>
                </a:moveTo>
                <a:lnTo>
                  <a:pt x="917444" y="0"/>
                </a:lnTo>
                <a:lnTo>
                  <a:pt x="917444" y="932706"/>
                </a:lnTo>
                <a:lnTo>
                  <a:pt x="0" y="932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7" name="Google Shape;257;p33"/>
          <p:cNvGrpSpPr/>
          <p:nvPr/>
        </p:nvGrpSpPr>
        <p:grpSpPr>
          <a:xfrm>
            <a:off x="2987694" y="2834346"/>
            <a:ext cx="5641956" cy="2109922"/>
            <a:chOff x="0" y="-66675"/>
            <a:chExt cx="2324777" cy="1111399"/>
          </a:xfrm>
        </p:grpSpPr>
        <p:sp>
          <p:nvSpPr>
            <p:cNvPr id="258" name="Google Shape;258;p33"/>
            <p:cNvSpPr/>
            <p:nvPr/>
          </p:nvSpPr>
          <p:spPr>
            <a:xfrm>
              <a:off x="0" y="0"/>
              <a:ext cx="2324777" cy="1044724"/>
            </a:xfrm>
            <a:custGeom>
              <a:rect b="b" l="l" r="r" t="t"/>
              <a:pathLst>
                <a:path extrusionOk="0" h="1044724" w="2324777">
                  <a:moveTo>
                    <a:pt x="19296" y="0"/>
                  </a:moveTo>
                  <a:lnTo>
                    <a:pt x="2305481" y="0"/>
                  </a:lnTo>
                  <a:cubicBezTo>
                    <a:pt x="2310599" y="0"/>
                    <a:pt x="2315507" y="2033"/>
                    <a:pt x="2319126" y="5652"/>
                  </a:cubicBezTo>
                  <a:cubicBezTo>
                    <a:pt x="2322744" y="9270"/>
                    <a:pt x="2324777" y="14178"/>
                    <a:pt x="2324777" y="19296"/>
                  </a:cubicBezTo>
                  <a:lnTo>
                    <a:pt x="2324777" y="1025429"/>
                  </a:lnTo>
                  <a:cubicBezTo>
                    <a:pt x="2324777" y="1030546"/>
                    <a:pt x="2322744" y="1035454"/>
                    <a:pt x="2319126" y="1039073"/>
                  </a:cubicBezTo>
                  <a:cubicBezTo>
                    <a:pt x="2315507" y="1042691"/>
                    <a:pt x="2310599" y="1044724"/>
                    <a:pt x="2305481" y="1044724"/>
                  </a:cubicBezTo>
                  <a:lnTo>
                    <a:pt x="19296" y="1044724"/>
                  </a:lnTo>
                  <a:cubicBezTo>
                    <a:pt x="14178" y="1044724"/>
                    <a:pt x="9270" y="1042691"/>
                    <a:pt x="5652" y="1039073"/>
                  </a:cubicBezTo>
                  <a:cubicBezTo>
                    <a:pt x="2033" y="1035454"/>
                    <a:pt x="0" y="1030546"/>
                    <a:pt x="0" y="1025429"/>
                  </a:cubicBezTo>
                  <a:lnTo>
                    <a:pt x="0" y="19296"/>
                  </a:lnTo>
                  <a:cubicBezTo>
                    <a:pt x="0" y="14178"/>
                    <a:pt x="2033" y="9270"/>
                    <a:pt x="5652" y="5652"/>
                  </a:cubicBezTo>
                  <a:cubicBezTo>
                    <a:pt x="9270" y="2033"/>
                    <a:pt x="14178" y="0"/>
                    <a:pt x="19296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01627">
                    <a:alpha val="0"/>
                  </a:srgbClr>
                </a:gs>
              </a:gsLst>
              <a:lin ang="2700000" scaled="0"/>
            </a:gradFill>
            <a:ln cap="rnd" cmpd="sng" w="19050">
              <a:solidFill>
                <a:srgbClr val="2D8B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3"/>
            <p:cNvSpPr txBox="1"/>
            <p:nvPr/>
          </p:nvSpPr>
          <p:spPr>
            <a:xfrm>
              <a:off x="0" y="-66675"/>
              <a:ext cx="2324777" cy="11113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33"/>
          <p:cNvSpPr/>
          <p:nvPr/>
        </p:nvSpPr>
        <p:spPr>
          <a:xfrm>
            <a:off x="1727031" y="3785333"/>
            <a:ext cx="458722" cy="500590"/>
          </a:xfrm>
          <a:custGeom>
            <a:rect b="b" l="l" r="r" t="t"/>
            <a:pathLst>
              <a:path extrusionOk="0" h="1001179" w="917444">
                <a:moveTo>
                  <a:pt x="0" y="0"/>
                </a:moveTo>
                <a:lnTo>
                  <a:pt x="917444" y="0"/>
                </a:lnTo>
                <a:lnTo>
                  <a:pt x="917444" y="1001178"/>
                </a:lnTo>
                <a:lnTo>
                  <a:pt x="0" y="100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33"/>
          <p:cNvSpPr txBox="1"/>
          <p:nvPr/>
        </p:nvSpPr>
        <p:spPr>
          <a:xfrm>
            <a:off x="606517" y="2363683"/>
            <a:ext cx="4803683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Series and DataFrame</a:t>
            </a:r>
            <a:endParaRPr b="1" i="0" sz="30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606517" y="324968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0"/>
                </a:lnTo>
                <a:lnTo>
                  <a:pt x="0" y="757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33"/>
          <p:cNvSpPr txBox="1"/>
          <p:nvPr/>
        </p:nvSpPr>
        <p:spPr>
          <a:xfrm>
            <a:off x="3222598" y="3038513"/>
            <a:ext cx="5170745" cy="184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DataFrame is like an Excel sheet with columns and rows.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 = pd.DataFrame({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'Name': ['Alice', 'Bob', 'Charlie'],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'Age': [25, 30, 35],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'Salary': [50000, 60000, 70000]         })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3232758" y="657777"/>
            <a:ext cx="5170746" cy="1314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Series is like a NumPy array with labels.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700"/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6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pd.Series([10, 20, 30], index=['a', 'b', 'c'])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/>
          <p:nvPr/>
        </p:nvSpPr>
        <p:spPr>
          <a:xfrm>
            <a:off x="5178400" y="0"/>
            <a:ext cx="3965301" cy="4606370"/>
          </a:xfrm>
          <a:custGeom>
            <a:rect b="b" l="l" r="r" t="t"/>
            <a:pathLst>
              <a:path extrusionOk="0" h="864640" w="757098">
                <a:moveTo>
                  <a:pt x="0" y="0"/>
                </a:moveTo>
                <a:lnTo>
                  <a:pt x="757098" y="0"/>
                </a:lnTo>
                <a:lnTo>
                  <a:pt x="757098" y="864640"/>
                </a:lnTo>
                <a:lnTo>
                  <a:pt x="0" y="86464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710" l="0" r="0" t="-15711"/>
            </a:stretch>
          </a:blipFill>
          <a:ln>
            <a:noFill/>
          </a:ln>
        </p:spPr>
      </p:sp>
      <p:grpSp>
        <p:nvGrpSpPr>
          <p:cNvPr id="270" name="Google Shape;270;p34"/>
          <p:cNvGrpSpPr/>
          <p:nvPr/>
        </p:nvGrpSpPr>
        <p:grpSpPr>
          <a:xfrm>
            <a:off x="5178238" y="1932907"/>
            <a:ext cx="3965621" cy="2673466"/>
            <a:chOff x="0" y="-66675"/>
            <a:chExt cx="2243252" cy="1502538"/>
          </a:xfrm>
        </p:grpSpPr>
        <p:sp>
          <p:nvSpPr>
            <p:cNvPr id="271" name="Google Shape;271;p34"/>
            <p:cNvSpPr/>
            <p:nvPr/>
          </p:nvSpPr>
          <p:spPr>
            <a:xfrm>
              <a:off x="0" y="0"/>
              <a:ext cx="2243252" cy="1435863"/>
            </a:xfrm>
            <a:custGeom>
              <a:rect b="b" l="l" r="r" t="t"/>
              <a:pathLst>
                <a:path extrusionOk="0" h="1435863" w="2243252">
                  <a:moveTo>
                    <a:pt x="0" y="0"/>
                  </a:moveTo>
                  <a:lnTo>
                    <a:pt x="2243252" y="0"/>
                  </a:lnTo>
                  <a:lnTo>
                    <a:pt x="2243252" y="1435863"/>
                  </a:lnTo>
                  <a:lnTo>
                    <a:pt x="0" y="1435863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21420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72" name="Google Shape;272;p34"/>
            <p:cNvSpPr txBox="1"/>
            <p:nvPr/>
          </p:nvSpPr>
          <p:spPr>
            <a:xfrm>
              <a:off x="0" y="-66675"/>
              <a:ext cx="2243252" cy="1502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34"/>
          <p:cNvGrpSpPr/>
          <p:nvPr/>
        </p:nvGrpSpPr>
        <p:grpSpPr>
          <a:xfrm rot="5400000">
            <a:off x="4481239" y="124473"/>
            <a:ext cx="542550" cy="9505028"/>
            <a:chOff x="0" y="-66675"/>
            <a:chExt cx="285788" cy="5006764"/>
          </a:xfrm>
        </p:grpSpPr>
        <p:sp>
          <p:nvSpPr>
            <p:cNvPr id="274" name="Google Shape;274;p34"/>
            <p:cNvSpPr/>
            <p:nvPr/>
          </p:nvSpPr>
          <p:spPr>
            <a:xfrm>
              <a:off x="0" y="0"/>
              <a:ext cx="285788" cy="4940089"/>
            </a:xfrm>
            <a:custGeom>
              <a:rect b="b" l="l" r="r" t="t"/>
              <a:pathLst>
                <a:path extrusionOk="0" h="4940089" w="285788">
                  <a:moveTo>
                    <a:pt x="0" y="0"/>
                  </a:moveTo>
                  <a:lnTo>
                    <a:pt x="285788" y="0"/>
                  </a:lnTo>
                  <a:lnTo>
                    <a:pt x="285788" y="4940089"/>
                  </a:lnTo>
                  <a:lnTo>
                    <a:pt x="0" y="4940089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75" name="Google Shape;275;p34"/>
            <p:cNvSpPr txBox="1"/>
            <p:nvPr/>
          </p:nvSpPr>
          <p:spPr>
            <a:xfrm>
              <a:off x="0" y="-66675"/>
              <a:ext cx="285788" cy="5006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34"/>
          <p:cNvSpPr txBox="1"/>
          <p:nvPr/>
        </p:nvSpPr>
        <p:spPr>
          <a:xfrm>
            <a:off x="1214831" y="391074"/>
            <a:ext cx="319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1A4F75"/>
                </a:solidFill>
                <a:latin typeface="Poppins"/>
                <a:ea typeface="Poppins"/>
                <a:cs typeface="Poppins"/>
                <a:sym typeface="Poppins"/>
              </a:rPr>
              <a:t>Reading Data</a:t>
            </a:r>
            <a:endParaRPr sz="700"/>
          </a:p>
        </p:txBody>
      </p:sp>
      <p:sp>
        <p:nvSpPr>
          <p:cNvPr id="277" name="Google Shape;277;p34"/>
          <p:cNvSpPr/>
          <p:nvPr/>
        </p:nvSpPr>
        <p:spPr>
          <a:xfrm>
            <a:off x="179" y="175511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34"/>
          <p:cNvSpPr txBox="1"/>
          <p:nvPr/>
        </p:nvSpPr>
        <p:spPr>
          <a:xfrm>
            <a:off x="176" y="1047475"/>
            <a:ext cx="5178000" cy="3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 can read data from various formats — CSV, Excel, JSON, SQL, etc.</a:t>
            </a:r>
            <a:endParaRPr sz="600"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usually inspected using using</a:t>
            </a: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.head() </a:t>
            </a: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loading.</a:t>
            </a:r>
            <a:endParaRPr sz="600"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600"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pd.read_csv('employees.csv')</a:t>
            </a:r>
            <a:endParaRPr sz="600"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df_excel = pd.read_excel('employees.xlsx')</a:t>
            </a:r>
            <a:endParaRPr sz="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35"/>
          <p:cNvGrpSpPr/>
          <p:nvPr/>
        </p:nvGrpSpPr>
        <p:grpSpPr>
          <a:xfrm>
            <a:off x="0" y="-19076"/>
            <a:ext cx="514350" cy="5183423"/>
            <a:chOff x="0" y="-66675"/>
            <a:chExt cx="373847" cy="3023001"/>
          </a:xfrm>
        </p:grpSpPr>
        <p:sp>
          <p:nvSpPr>
            <p:cNvPr id="284" name="Google Shape;284;p35"/>
            <p:cNvSpPr/>
            <p:nvPr/>
          </p:nvSpPr>
          <p:spPr>
            <a:xfrm>
              <a:off x="0" y="0"/>
              <a:ext cx="373847" cy="2956326"/>
            </a:xfrm>
            <a:custGeom>
              <a:rect b="b" l="l" r="r" t="t"/>
              <a:pathLst>
                <a:path extrusionOk="0" h="2956326" w="373847">
                  <a:moveTo>
                    <a:pt x="0" y="0"/>
                  </a:moveTo>
                  <a:lnTo>
                    <a:pt x="373847" y="0"/>
                  </a:lnTo>
                  <a:lnTo>
                    <a:pt x="373847" y="2956326"/>
                  </a:lnTo>
                  <a:lnTo>
                    <a:pt x="0" y="2956326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85" name="Google Shape;285;p35"/>
            <p:cNvSpPr txBox="1"/>
            <p:nvPr/>
          </p:nvSpPr>
          <p:spPr>
            <a:xfrm>
              <a:off x="0" y="-66675"/>
              <a:ext cx="373847" cy="3023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35"/>
          <p:cNvSpPr/>
          <p:nvPr/>
        </p:nvSpPr>
        <p:spPr>
          <a:xfrm>
            <a:off x="5725288" y="-19076"/>
            <a:ext cx="3418713" cy="5183423"/>
          </a:xfrm>
          <a:custGeom>
            <a:rect b="b" l="l" r="r" t="t"/>
            <a:pathLst>
              <a:path extrusionOk="0" h="914400" w="607701">
                <a:moveTo>
                  <a:pt x="0" y="0"/>
                </a:moveTo>
                <a:lnTo>
                  <a:pt x="607701" y="0"/>
                </a:lnTo>
                <a:lnTo>
                  <a:pt x="607701" y="914400"/>
                </a:lnTo>
                <a:lnTo>
                  <a:pt x="0" y="914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9456" r="-21007" t="0"/>
            </a:stretch>
          </a:blipFill>
          <a:ln>
            <a:noFill/>
          </a:ln>
        </p:spPr>
      </p:sp>
      <p:grpSp>
        <p:nvGrpSpPr>
          <p:cNvPr id="287" name="Google Shape;287;p35"/>
          <p:cNvGrpSpPr/>
          <p:nvPr/>
        </p:nvGrpSpPr>
        <p:grpSpPr>
          <a:xfrm>
            <a:off x="0" y="1432549"/>
            <a:ext cx="400616" cy="400616"/>
            <a:chOff x="0" y="0"/>
            <a:chExt cx="812800" cy="812800"/>
          </a:xfrm>
        </p:grpSpPr>
        <p:sp>
          <p:nvSpPr>
            <p:cNvPr id="288" name="Google Shape;288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4F7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35"/>
          <p:cNvSpPr txBox="1"/>
          <p:nvPr/>
        </p:nvSpPr>
        <p:spPr>
          <a:xfrm>
            <a:off x="3385389" y="1091336"/>
            <a:ext cx="207736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700"/>
          </a:p>
        </p:txBody>
      </p:sp>
      <p:grpSp>
        <p:nvGrpSpPr>
          <p:cNvPr id="291" name="Google Shape;291;p35"/>
          <p:cNvGrpSpPr/>
          <p:nvPr/>
        </p:nvGrpSpPr>
        <p:grpSpPr>
          <a:xfrm>
            <a:off x="0" y="2047378"/>
            <a:ext cx="400616" cy="400615"/>
            <a:chOff x="0" y="0"/>
            <a:chExt cx="812800" cy="812800"/>
          </a:xfrm>
        </p:grpSpPr>
        <p:sp>
          <p:nvSpPr>
            <p:cNvPr id="292" name="Google Shape;292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4F7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35"/>
          <p:cNvSpPr txBox="1"/>
          <p:nvPr/>
        </p:nvSpPr>
        <p:spPr>
          <a:xfrm>
            <a:off x="911221" y="2897604"/>
            <a:ext cx="207736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700"/>
          </a:p>
        </p:txBody>
      </p:sp>
      <p:grpSp>
        <p:nvGrpSpPr>
          <p:cNvPr id="295" name="Google Shape;295;p35"/>
          <p:cNvGrpSpPr/>
          <p:nvPr/>
        </p:nvGrpSpPr>
        <p:grpSpPr>
          <a:xfrm>
            <a:off x="0" y="2721250"/>
            <a:ext cx="400629" cy="400629"/>
            <a:chOff x="0" y="0"/>
            <a:chExt cx="812800" cy="812800"/>
          </a:xfrm>
        </p:grpSpPr>
        <p:sp>
          <p:nvSpPr>
            <p:cNvPr id="296" name="Google Shape;296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35"/>
          <p:cNvSpPr txBox="1"/>
          <p:nvPr/>
        </p:nvSpPr>
        <p:spPr>
          <a:xfrm>
            <a:off x="3385389" y="2897604"/>
            <a:ext cx="207736" cy="2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700"/>
          </a:p>
        </p:txBody>
      </p:sp>
      <p:grpSp>
        <p:nvGrpSpPr>
          <p:cNvPr id="299" name="Google Shape;299;p35"/>
          <p:cNvGrpSpPr/>
          <p:nvPr/>
        </p:nvGrpSpPr>
        <p:grpSpPr>
          <a:xfrm>
            <a:off x="0" y="4010050"/>
            <a:ext cx="400629" cy="400629"/>
            <a:chOff x="0" y="0"/>
            <a:chExt cx="812800" cy="812800"/>
          </a:xfrm>
        </p:grpSpPr>
        <p:sp>
          <p:nvSpPr>
            <p:cNvPr id="300" name="Google Shape;300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142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35"/>
          <p:cNvGrpSpPr/>
          <p:nvPr/>
        </p:nvGrpSpPr>
        <p:grpSpPr>
          <a:xfrm>
            <a:off x="0" y="3395122"/>
            <a:ext cx="400629" cy="400629"/>
            <a:chOff x="0" y="0"/>
            <a:chExt cx="812800" cy="812800"/>
          </a:xfrm>
        </p:grpSpPr>
        <p:sp>
          <p:nvSpPr>
            <p:cNvPr id="303" name="Google Shape;303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32034"/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35"/>
          <p:cNvGrpSpPr/>
          <p:nvPr/>
        </p:nvGrpSpPr>
        <p:grpSpPr>
          <a:xfrm>
            <a:off x="0" y="4561216"/>
            <a:ext cx="400629" cy="400629"/>
            <a:chOff x="0" y="0"/>
            <a:chExt cx="812800" cy="812800"/>
          </a:xfrm>
        </p:grpSpPr>
        <p:sp>
          <p:nvSpPr>
            <p:cNvPr id="306" name="Google Shape;306;p3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142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35"/>
          <p:cNvSpPr txBox="1"/>
          <p:nvPr/>
        </p:nvSpPr>
        <p:spPr>
          <a:xfrm>
            <a:off x="570125" y="602750"/>
            <a:ext cx="5099400" cy="44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functions are used to quickly understand the structure and content of your data.</a:t>
            </a:r>
            <a:endParaRPr sz="500"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df.head()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First 5 rows</a:t>
            </a:r>
            <a:endParaRPr sz="500"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df.tail() 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Last 5 rows</a:t>
            </a:r>
            <a:endParaRPr sz="500"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df.shape 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(rows, columns)</a:t>
            </a:r>
            <a:endParaRPr sz="500"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df.columns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- List of column names</a:t>
            </a:r>
            <a:endParaRPr sz="500"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df.info()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Data types and null values</a:t>
            </a:r>
            <a:endParaRPr sz="500"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df.describe()</a:t>
            </a:r>
            <a:r>
              <a:rPr b="0" i="0" lang="en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Summary statistics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6179109" y="2145353"/>
            <a:ext cx="2444770" cy="1131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Inspecting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sz="700"/>
          </a:p>
        </p:txBody>
      </p:sp>
      <p:sp>
        <p:nvSpPr>
          <p:cNvPr id="310" name="Google Shape;310;p35"/>
          <p:cNvSpPr/>
          <p:nvPr/>
        </p:nvSpPr>
        <p:spPr>
          <a:xfrm>
            <a:off x="454824" y="148793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0"/>
                </a:lnTo>
                <a:lnTo>
                  <a:pt x="0" y="757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36"/>
          <p:cNvGrpSpPr/>
          <p:nvPr/>
        </p:nvGrpSpPr>
        <p:grpSpPr>
          <a:xfrm>
            <a:off x="674543" y="1001843"/>
            <a:ext cx="3977554" cy="1569907"/>
            <a:chOff x="0" y="-66675"/>
            <a:chExt cx="2095172" cy="826947"/>
          </a:xfrm>
        </p:grpSpPr>
        <p:sp>
          <p:nvSpPr>
            <p:cNvPr id="316" name="Google Shape;316;p36"/>
            <p:cNvSpPr/>
            <p:nvPr/>
          </p:nvSpPr>
          <p:spPr>
            <a:xfrm>
              <a:off x="0" y="0"/>
              <a:ext cx="2095172" cy="760272"/>
            </a:xfrm>
            <a:custGeom>
              <a:rect b="b" l="l" r="r" t="t"/>
              <a:pathLst>
                <a:path extrusionOk="0" h="760272" w="2095172">
                  <a:moveTo>
                    <a:pt x="19464" y="0"/>
                  </a:moveTo>
                  <a:lnTo>
                    <a:pt x="2075708" y="0"/>
                  </a:lnTo>
                  <a:cubicBezTo>
                    <a:pt x="2080870" y="0"/>
                    <a:pt x="2085821" y="2051"/>
                    <a:pt x="2089471" y="5701"/>
                  </a:cubicBezTo>
                  <a:cubicBezTo>
                    <a:pt x="2093122" y="9351"/>
                    <a:pt x="2095172" y="14302"/>
                    <a:pt x="2095172" y="19464"/>
                  </a:cubicBezTo>
                  <a:lnTo>
                    <a:pt x="2095172" y="740808"/>
                  </a:lnTo>
                  <a:cubicBezTo>
                    <a:pt x="2095172" y="745970"/>
                    <a:pt x="2093122" y="750921"/>
                    <a:pt x="2089471" y="754571"/>
                  </a:cubicBezTo>
                  <a:cubicBezTo>
                    <a:pt x="2085821" y="758221"/>
                    <a:pt x="2080870" y="760272"/>
                    <a:pt x="2075708" y="760272"/>
                  </a:cubicBezTo>
                  <a:lnTo>
                    <a:pt x="19464" y="760272"/>
                  </a:lnTo>
                  <a:cubicBezTo>
                    <a:pt x="14302" y="760272"/>
                    <a:pt x="9351" y="758221"/>
                    <a:pt x="5701" y="754571"/>
                  </a:cubicBezTo>
                  <a:cubicBezTo>
                    <a:pt x="2051" y="750921"/>
                    <a:pt x="0" y="745970"/>
                    <a:pt x="0" y="740808"/>
                  </a:cubicBezTo>
                  <a:lnTo>
                    <a:pt x="0" y="19464"/>
                  </a:lnTo>
                  <a:cubicBezTo>
                    <a:pt x="0" y="14302"/>
                    <a:pt x="2051" y="9351"/>
                    <a:pt x="5701" y="5701"/>
                  </a:cubicBezTo>
                  <a:cubicBezTo>
                    <a:pt x="9351" y="2051"/>
                    <a:pt x="14302" y="0"/>
                    <a:pt x="19464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6"/>
            <p:cNvSpPr txBox="1"/>
            <p:nvPr/>
          </p:nvSpPr>
          <p:spPr>
            <a:xfrm>
              <a:off x="0" y="-66675"/>
              <a:ext cx="2095172" cy="826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36"/>
          <p:cNvGrpSpPr/>
          <p:nvPr/>
        </p:nvGrpSpPr>
        <p:grpSpPr>
          <a:xfrm>
            <a:off x="0" y="-22712"/>
            <a:ext cx="514350" cy="5166212"/>
            <a:chOff x="0" y="-66675"/>
            <a:chExt cx="415012" cy="2920087"/>
          </a:xfrm>
        </p:grpSpPr>
        <p:sp>
          <p:nvSpPr>
            <p:cNvPr id="319" name="Google Shape;319;p36"/>
            <p:cNvSpPr/>
            <p:nvPr/>
          </p:nvSpPr>
          <p:spPr>
            <a:xfrm>
              <a:off x="0" y="0"/>
              <a:ext cx="415012" cy="2853412"/>
            </a:xfrm>
            <a:custGeom>
              <a:rect b="b" l="l" r="r" t="t"/>
              <a:pathLst>
                <a:path extrusionOk="0" h="2853412" w="415012">
                  <a:moveTo>
                    <a:pt x="0" y="0"/>
                  </a:moveTo>
                  <a:lnTo>
                    <a:pt x="415012" y="0"/>
                  </a:lnTo>
                  <a:lnTo>
                    <a:pt x="415012" y="2853412"/>
                  </a:lnTo>
                  <a:lnTo>
                    <a:pt x="0" y="2853412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20" name="Google Shape;320;p36"/>
            <p:cNvSpPr txBox="1"/>
            <p:nvPr/>
          </p:nvSpPr>
          <p:spPr>
            <a:xfrm>
              <a:off x="0" y="-66675"/>
              <a:ext cx="415012" cy="292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36"/>
          <p:cNvSpPr/>
          <p:nvPr/>
        </p:nvSpPr>
        <p:spPr>
          <a:xfrm>
            <a:off x="5210550" y="1114125"/>
            <a:ext cx="3932608" cy="4029863"/>
          </a:xfrm>
          <a:custGeom>
            <a:rect b="b" l="l" r="r" t="t"/>
            <a:pathLst>
              <a:path extrusionOk="0" h="690045" w="763984">
                <a:moveTo>
                  <a:pt x="0" y="0"/>
                </a:moveTo>
                <a:lnTo>
                  <a:pt x="763984" y="0"/>
                </a:lnTo>
                <a:lnTo>
                  <a:pt x="763984" y="690045"/>
                </a:lnTo>
                <a:lnTo>
                  <a:pt x="0" y="69004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5610" r="-35610" t="0"/>
            </a:stretch>
          </a:blipFill>
          <a:ln>
            <a:noFill/>
          </a:ln>
        </p:spPr>
      </p:sp>
      <p:sp>
        <p:nvSpPr>
          <p:cNvPr id="322" name="Google Shape;322;p36"/>
          <p:cNvSpPr txBox="1"/>
          <p:nvPr/>
        </p:nvSpPr>
        <p:spPr>
          <a:xfrm>
            <a:off x="674543" y="577876"/>
            <a:ext cx="7955107" cy="488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A4F7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Cleaning</a:t>
            </a:r>
            <a:endParaRPr sz="700"/>
          </a:p>
        </p:txBody>
      </p:sp>
      <p:sp>
        <p:nvSpPr>
          <p:cNvPr id="323" name="Google Shape;323;p36"/>
          <p:cNvSpPr txBox="1"/>
          <p:nvPr/>
        </p:nvSpPr>
        <p:spPr>
          <a:xfrm>
            <a:off x="863818" y="1274318"/>
            <a:ext cx="3584618" cy="107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cleaning is essential before analysis.</a:t>
            </a:r>
            <a:endParaRPr sz="7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Handle missing or incorrect data using .dropna(), .fillna(), .replace().</a:t>
            </a:r>
            <a:endParaRPr sz="700"/>
          </a:p>
        </p:txBody>
      </p:sp>
      <p:sp>
        <p:nvSpPr>
          <p:cNvPr id="324" name="Google Shape;324;p36"/>
          <p:cNvSpPr txBox="1"/>
          <p:nvPr/>
        </p:nvSpPr>
        <p:spPr>
          <a:xfrm>
            <a:off x="514950" y="2847650"/>
            <a:ext cx="4695600" cy="21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 rows with missing values: df.dropna(inplace=True)</a:t>
            </a:r>
            <a:endParaRPr sz="600"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Fill missing values:</a:t>
            </a:r>
            <a:endParaRPr sz="600"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df.fillna(0, inplace=True)</a:t>
            </a:r>
            <a:endParaRPr sz="600"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Replace specific values:</a:t>
            </a:r>
            <a:endParaRPr sz="600"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df['Department'].replace({'Sales': 'Marketing'}, inplace=True)</a:t>
            </a:r>
            <a:endParaRPr sz="600"/>
          </a:p>
        </p:txBody>
      </p:sp>
      <p:sp>
        <p:nvSpPr>
          <p:cNvPr id="325" name="Google Shape;325;p36"/>
          <p:cNvSpPr/>
          <p:nvPr/>
        </p:nvSpPr>
        <p:spPr>
          <a:xfrm>
            <a:off x="725841" y="249561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36"/>
          <p:cNvSpPr txBox="1"/>
          <p:nvPr/>
        </p:nvSpPr>
        <p:spPr>
          <a:xfrm>
            <a:off x="1114865" y="2600325"/>
            <a:ext cx="956370" cy="29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/>
        </p:nvSpPr>
        <p:spPr>
          <a:xfrm>
            <a:off x="1556138" y="425841"/>
            <a:ext cx="5836130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A4F7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Filtering and Sorting </a:t>
            </a:r>
            <a:endParaRPr sz="700"/>
          </a:p>
        </p:txBody>
      </p:sp>
      <p:sp>
        <p:nvSpPr>
          <p:cNvPr id="333" name="Google Shape;333;p37"/>
          <p:cNvSpPr txBox="1"/>
          <p:nvPr/>
        </p:nvSpPr>
        <p:spPr>
          <a:xfrm>
            <a:off x="488098" y="3015017"/>
            <a:ext cx="3065782" cy="1509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Filter: employees older than 30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df[df['Age'] &gt; 30]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4" name="Google Shape;334;p37"/>
          <p:cNvGrpSpPr/>
          <p:nvPr/>
        </p:nvGrpSpPr>
        <p:grpSpPr>
          <a:xfrm>
            <a:off x="488098" y="1224317"/>
            <a:ext cx="3065782" cy="669149"/>
            <a:chOff x="0" y="-66675"/>
            <a:chExt cx="1614897" cy="352474"/>
          </a:xfrm>
        </p:grpSpPr>
        <p:sp>
          <p:nvSpPr>
            <p:cNvPr id="335" name="Google Shape;335;p37"/>
            <p:cNvSpPr/>
            <p:nvPr/>
          </p:nvSpPr>
          <p:spPr>
            <a:xfrm>
              <a:off x="0" y="0"/>
              <a:ext cx="1614897" cy="285799"/>
            </a:xfrm>
            <a:custGeom>
              <a:rect b="b" l="l" r="r" t="t"/>
              <a:pathLst>
                <a:path extrusionOk="0" h="285799" w="1614897">
                  <a:moveTo>
                    <a:pt x="22727" y="0"/>
                  </a:moveTo>
                  <a:lnTo>
                    <a:pt x="1592170" y="0"/>
                  </a:lnTo>
                  <a:cubicBezTo>
                    <a:pt x="1604722" y="0"/>
                    <a:pt x="1614897" y="10175"/>
                    <a:pt x="1614897" y="22727"/>
                  </a:cubicBezTo>
                  <a:lnTo>
                    <a:pt x="1614897" y="263071"/>
                  </a:lnTo>
                  <a:cubicBezTo>
                    <a:pt x="1614897" y="275623"/>
                    <a:pt x="1604722" y="285799"/>
                    <a:pt x="1592170" y="285799"/>
                  </a:cubicBezTo>
                  <a:lnTo>
                    <a:pt x="22727" y="285799"/>
                  </a:lnTo>
                  <a:cubicBezTo>
                    <a:pt x="10175" y="285799"/>
                    <a:pt x="0" y="275623"/>
                    <a:pt x="0" y="263071"/>
                  </a:cubicBezTo>
                  <a:lnTo>
                    <a:pt x="0" y="22727"/>
                  </a:lnTo>
                  <a:cubicBezTo>
                    <a:pt x="0" y="10175"/>
                    <a:pt x="10175" y="0"/>
                    <a:pt x="22727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7"/>
            <p:cNvSpPr txBox="1"/>
            <p:nvPr/>
          </p:nvSpPr>
          <p:spPr>
            <a:xfrm>
              <a:off x="0" y="-66675"/>
              <a:ext cx="1614897" cy="352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37"/>
          <p:cNvSpPr txBox="1"/>
          <p:nvPr/>
        </p:nvSpPr>
        <p:spPr>
          <a:xfrm>
            <a:off x="684688" y="1418346"/>
            <a:ext cx="1311752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Filtering</a:t>
            </a:r>
            <a:endParaRPr sz="700"/>
          </a:p>
        </p:txBody>
      </p:sp>
      <p:grpSp>
        <p:nvGrpSpPr>
          <p:cNvPr id="338" name="Google Shape;338;p37"/>
          <p:cNvGrpSpPr/>
          <p:nvPr/>
        </p:nvGrpSpPr>
        <p:grpSpPr>
          <a:xfrm>
            <a:off x="5340392" y="1224317"/>
            <a:ext cx="2982594" cy="669149"/>
            <a:chOff x="0" y="-66675"/>
            <a:chExt cx="1571078" cy="352474"/>
          </a:xfrm>
        </p:grpSpPr>
        <p:sp>
          <p:nvSpPr>
            <p:cNvPr id="339" name="Google Shape;339;p37"/>
            <p:cNvSpPr/>
            <p:nvPr/>
          </p:nvSpPr>
          <p:spPr>
            <a:xfrm>
              <a:off x="0" y="0"/>
              <a:ext cx="1571078" cy="285799"/>
            </a:xfrm>
            <a:custGeom>
              <a:rect b="b" l="l" r="r" t="t"/>
              <a:pathLst>
                <a:path extrusionOk="0" h="285799" w="1571078">
                  <a:moveTo>
                    <a:pt x="23361" y="0"/>
                  </a:moveTo>
                  <a:lnTo>
                    <a:pt x="1547717" y="0"/>
                  </a:lnTo>
                  <a:cubicBezTo>
                    <a:pt x="1553913" y="0"/>
                    <a:pt x="1559855" y="2461"/>
                    <a:pt x="1564236" y="6842"/>
                  </a:cubicBezTo>
                  <a:cubicBezTo>
                    <a:pt x="1568617" y="11223"/>
                    <a:pt x="1571078" y="17165"/>
                    <a:pt x="1571078" y="23361"/>
                  </a:cubicBezTo>
                  <a:lnTo>
                    <a:pt x="1571078" y="262437"/>
                  </a:lnTo>
                  <a:cubicBezTo>
                    <a:pt x="1571078" y="275339"/>
                    <a:pt x="1560619" y="285799"/>
                    <a:pt x="1547717" y="285799"/>
                  </a:cubicBezTo>
                  <a:lnTo>
                    <a:pt x="23361" y="285799"/>
                  </a:lnTo>
                  <a:cubicBezTo>
                    <a:pt x="10459" y="285799"/>
                    <a:pt x="0" y="275339"/>
                    <a:pt x="0" y="262437"/>
                  </a:cubicBezTo>
                  <a:lnTo>
                    <a:pt x="0" y="23361"/>
                  </a:lnTo>
                  <a:cubicBezTo>
                    <a:pt x="0" y="10459"/>
                    <a:pt x="10459" y="0"/>
                    <a:pt x="23361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7"/>
            <p:cNvSpPr txBox="1"/>
            <p:nvPr/>
          </p:nvSpPr>
          <p:spPr>
            <a:xfrm>
              <a:off x="0" y="-66675"/>
              <a:ext cx="1571078" cy="352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37"/>
          <p:cNvSpPr txBox="1"/>
          <p:nvPr/>
        </p:nvSpPr>
        <p:spPr>
          <a:xfrm>
            <a:off x="5420282" y="1404974"/>
            <a:ext cx="1311752" cy="358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Sorting</a:t>
            </a:r>
            <a:endParaRPr sz="700"/>
          </a:p>
        </p:txBody>
      </p:sp>
      <p:grpSp>
        <p:nvGrpSpPr>
          <p:cNvPr id="342" name="Google Shape;342;p37"/>
          <p:cNvGrpSpPr/>
          <p:nvPr/>
        </p:nvGrpSpPr>
        <p:grpSpPr>
          <a:xfrm rot="5400000">
            <a:off x="4288230" y="165083"/>
            <a:ext cx="690188" cy="9266647"/>
            <a:chOff x="0" y="-66675"/>
            <a:chExt cx="363555" cy="5037638"/>
          </a:xfrm>
        </p:grpSpPr>
        <p:sp>
          <p:nvSpPr>
            <p:cNvPr id="343" name="Google Shape;343;p37"/>
            <p:cNvSpPr/>
            <p:nvPr/>
          </p:nvSpPr>
          <p:spPr>
            <a:xfrm>
              <a:off x="0" y="0"/>
              <a:ext cx="363555" cy="4970963"/>
            </a:xfrm>
            <a:custGeom>
              <a:rect b="b" l="l" r="r" t="t"/>
              <a:pathLst>
                <a:path extrusionOk="0" h="4970963" w="363555">
                  <a:moveTo>
                    <a:pt x="0" y="0"/>
                  </a:moveTo>
                  <a:lnTo>
                    <a:pt x="363555" y="0"/>
                  </a:lnTo>
                  <a:lnTo>
                    <a:pt x="363555" y="4970963"/>
                  </a:lnTo>
                  <a:lnTo>
                    <a:pt x="0" y="4970963"/>
                  </a:lnTo>
                  <a:close/>
                </a:path>
              </a:pathLst>
            </a:custGeom>
            <a:gradFill>
              <a:gsLst>
                <a:gs pos="0">
                  <a:srgbClr val="032034"/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44" name="Google Shape;344;p37"/>
            <p:cNvSpPr txBox="1"/>
            <p:nvPr/>
          </p:nvSpPr>
          <p:spPr>
            <a:xfrm>
              <a:off x="0" y="-66675"/>
              <a:ext cx="363555" cy="5037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37"/>
          <p:cNvSpPr/>
          <p:nvPr/>
        </p:nvSpPr>
        <p:spPr>
          <a:xfrm>
            <a:off x="514350" y="214298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37"/>
          <p:cNvSpPr txBox="1"/>
          <p:nvPr/>
        </p:nvSpPr>
        <p:spPr>
          <a:xfrm>
            <a:off x="514350" y="2074829"/>
            <a:ext cx="3039529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Logical conditions allow row filtering.</a:t>
            </a:r>
            <a:endParaRPr sz="700"/>
          </a:p>
          <a:p>
            <a:pPr indent="0" lvl="0" marL="0" marR="0" rtl="0" algn="just">
              <a:lnSpc>
                <a:spcPct val="659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37"/>
          <p:cNvSpPr txBox="1"/>
          <p:nvPr/>
        </p:nvSpPr>
        <p:spPr>
          <a:xfrm>
            <a:off x="5340392" y="3067385"/>
            <a:ext cx="3289258" cy="150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Sort by salary descending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df.sort_values(by='Salary', ascending=False)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37"/>
          <p:cNvSpPr txBox="1"/>
          <p:nvPr/>
        </p:nvSpPr>
        <p:spPr>
          <a:xfrm>
            <a:off x="5340392" y="2074829"/>
            <a:ext cx="3039529" cy="1058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.sort_values() to sort by any column.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659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37"/>
          <p:cNvSpPr txBox="1"/>
          <p:nvPr/>
        </p:nvSpPr>
        <p:spPr>
          <a:xfrm>
            <a:off x="504192" y="2777209"/>
            <a:ext cx="959049" cy="29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700"/>
          </a:p>
        </p:txBody>
      </p:sp>
      <p:sp>
        <p:nvSpPr>
          <p:cNvPr id="350" name="Google Shape;350;p37"/>
          <p:cNvSpPr txBox="1"/>
          <p:nvPr/>
        </p:nvSpPr>
        <p:spPr>
          <a:xfrm>
            <a:off x="5340392" y="2777209"/>
            <a:ext cx="959049" cy="29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38"/>
          <p:cNvGrpSpPr/>
          <p:nvPr/>
        </p:nvGrpSpPr>
        <p:grpSpPr>
          <a:xfrm>
            <a:off x="777313" y="2621224"/>
            <a:ext cx="3498652" cy="2380668"/>
            <a:chOff x="0" y="-66675"/>
            <a:chExt cx="1842948" cy="1254039"/>
          </a:xfrm>
        </p:grpSpPr>
        <p:sp>
          <p:nvSpPr>
            <p:cNvPr id="356" name="Google Shape;356;p38"/>
            <p:cNvSpPr/>
            <p:nvPr/>
          </p:nvSpPr>
          <p:spPr>
            <a:xfrm>
              <a:off x="0" y="0"/>
              <a:ext cx="1842948" cy="1187364"/>
            </a:xfrm>
            <a:custGeom>
              <a:rect b="b" l="l" r="r" t="t"/>
              <a:pathLst>
                <a:path extrusionOk="0" h="1187364" w="1842948">
                  <a:moveTo>
                    <a:pt x="22128" y="0"/>
                  </a:moveTo>
                  <a:lnTo>
                    <a:pt x="1820820" y="0"/>
                  </a:lnTo>
                  <a:cubicBezTo>
                    <a:pt x="1833041" y="0"/>
                    <a:pt x="1842948" y="9907"/>
                    <a:pt x="1842948" y="22128"/>
                  </a:cubicBezTo>
                  <a:lnTo>
                    <a:pt x="1842948" y="1165236"/>
                  </a:lnTo>
                  <a:cubicBezTo>
                    <a:pt x="1842948" y="1177457"/>
                    <a:pt x="1833041" y="1187364"/>
                    <a:pt x="1820820" y="1187364"/>
                  </a:cubicBezTo>
                  <a:lnTo>
                    <a:pt x="22128" y="1187364"/>
                  </a:lnTo>
                  <a:cubicBezTo>
                    <a:pt x="9907" y="1187364"/>
                    <a:pt x="0" y="1177457"/>
                    <a:pt x="0" y="1165236"/>
                  </a:cubicBezTo>
                  <a:lnTo>
                    <a:pt x="0" y="22128"/>
                  </a:lnTo>
                  <a:cubicBezTo>
                    <a:pt x="0" y="9907"/>
                    <a:pt x="9907" y="0"/>
                    <a:pt x="22128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8"/>
            <p:cNvSpPr txBox="1"/>
            <p:nvPr/>
          </p:nvSpPr>
          <p:spPr>
            <a:xfrm>
              <a:off x="0" y="-66675"/>
              <a:ext cx="1842948" cy="1254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38"/>
          <p:cNvGrpSpPr/>
          <p:nvPr/>
        </p:nvGrpSpPr>
        <p:grpSpPr>
          <a:xfrm>
            <a:off x="4991100" y="2570172"/>
            <a:ext cx="3473457" cy="2380714"/>
            <a:chOff x="0" y="-66675"/>
            <a:chExt cx="1829640" cy="1254039"/>
          </a:xfrm>
        </p:grpSpPr>
        <p:sp>
          <p:nvSpPr>
            <p:cNvPr id="359" name="Google Shape;359;p38"/>
            <p:cNvSpPr/>
            <p:nvPr/>
          </p:nvSpPr>
          <p:spPr>
            <a:xfrm>
              <a:off x="0" y="0"/>
              <a:ext cx="1829640" cy="1187364"/>
            </a:xfrm>
            <a:custGeom>
              <a:rect b="b" l="l" r="r" t="t"/>
              <a:pathLst>
                <a:path extrusionOk="0" h="1187364" w="1829640">
                  <a:moveTo>
                    <a:pt x="22289" y="0"/>
                  </a:moveTo>
                  <a:lnTo>
                    <a:pt x="1807351" y="0"/>
                  </a:lnTo>
                  <a:cubicBezTo>
                    <a:pt x="1813263" y="0"/>
                    <a:pt x="1818932" y="2348"/>
                    <a:pt x="1823112" y="6528"/>
                  </a:cubicBezTo>
                  <a:cubicBezTo>
                    <a:pt x="1827292" y="10708"/>
                    <a:pt x="1829640" y="16377"/>
                    <a:pt x="1829640" y="22289"/>
                  </a:cubicBezTo>
                  <a:lnTo>
                    <a:pt x="1829640" y="1165075"/>
                  </a:lnTo>
                  <a:cubicBezTo>
                    <a:pt x="1829640" y="1170986"/>
                    <a:pt x="1827292" y="1176656"/>
                    <a:pt x="1823112" y="1180835"/>
                  </a:cubicBezTo>
                  <a:cubicBezTo>
                    <a:pt x="1818932" y="1185015"/>
                    <a:pt x="1813263" y="1187364"/>
                    <a:pt x="1807351" y="1187364"/>
                  </a:cubicBezTo>
                  <a:lnTo>
                    <a:pt x="22289" y="1187364"/>
                  </a:lnTo>
                  <a:cubicBezTo>
                    <a:pt x="16377" y="1187364"/>
                    <a:pt x="10708" y="1185015"/>
                    <a:pt x="6528" y="1180835"/>
                  </a:cubicBezTo>
                  <a:cubicBezTo>
                    <a:pt x="2348" y="1176656"/>
                    <a:pt x="0" y="1170986"/>
                    <a:pt x="0" y="1165075"/>
                  </a:cubicBezTo>
                  <a:lnTo>
                    <a:pt x="0" y="22289"/>
                  </a:lnTo>
                  <a:cubicBezTo>
                    <a:pt x="0" y="16377"/>
                    <a:pt x="2348" y="10708"/>
                    <a:pt x="6528" y="6528"/>
                  </a:cubicBezTo>
                  <a:cubicBezTo>
                    <a:pt x="10708" y="2348"/>
                    <a:pt x="16377" y="0"/>
                    <a:pt x="22289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8"/>
            <p:cNvSpPr txBox="1"/>
            <p:nvPr/>
          </p:nvSpPr>
          <p:spPr>
            <a:xfrm>
              <a:off x="0" y="-66675"/>
              <a:ext cx="1829640" cy="1254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38"/>
          <p:cNvSpPr/>
          <p:nvPr/>
        </p:nvSpPr>
        <p:spPr>
          <a:xfrm>
            <a:off x="7887599" y="3153713"/>
            <a:ext cx="417013" cy="548702"/>
          </a:xfrm>
          <a:custGeom>
            <a:rect b="b" l="l" r="r" t="t"/>
            <a:pathLst>
              <a:path extrusionOk="0" h="1097403" w="834027">
                <a:moveTo>
                  <a:pt x="0" y="0"/>
                </a:moveTo>
                <a:lnTo>
                  <a:pt x="834027" y="0"/>
                </a:lnTo>
                <a:lnTo>
                  <a:pt x="834027" y="1097404"/>
                </a:lnTo>
                <a:lnTo>
                  <a:pt x="0" y="1097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38"/>
          <p:cNvSpPr/>
          <p:nvPr/>
        </p:nvSpPr>
        <p:spPr>
          <a:xfrm>
            <a:off x="3662054" y="3118359"/>
            <a:ext cx="548701" cy="548702"/>
          </a:xfrm>
          <a:custGeom>
            <a:rect b="b" l="l" r="r" t="t"/>
            <a:pathLst>
              <a:path extrusionOk="0" h="1097403" w="1097403">
                <a:moveTo>
                  <a:pt x="0" y="0"/>
                </a:moveTo>
                <a:lnTo>
                  <a:pt x="1097403" y="0"/>
                </a:lnTo>
                <a:lnTo>
                  <a:pt x="1097403" y="1097404"/>
                </a:lnTo>
                <a:lnTo>
                  <a:pt x="0" y="1097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38"/>
          <p:cNvSpPr txBox="1"/>
          <p:nvPr/>
        </p:nvSpPr>
        <p:spPr>
          <a:xfrm>
            <a:off x="2400300" y="866283"/>
            <a:ext cx="4220251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41B8D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Grouping and Aggregating</a:t>
            </a:r>
            <a:endParaRPr sz="700"/>
          </a:p>
        </p:txBody>
      </p:sp>
      <p:sp>
        <p:nvSpPr>
          <p:cNvPr id="364" name="Google Shape;364;p38"/>
          <p:cNvSpPr txBox="1"/>
          <p:nvPr/>
        </p:nvSpPr>
        <p:spPr>
          <a:xfrm>
            <a:off x="923668" y="2794988"/>
            <a:ext cx="3189359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Grouping:lets you analyze data by categories.</a:t>
            </a:r>
            <a:endParaRPr sz="700"/>
          </a:p>
          <a:p>
            <a:pPr indent="0" lvl="0" marL="0" marR="0" rtl="0" algn="l">
              <a:lnSpc>
                <a:spcPct val="116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65" name="Google Shape;365;p38"/>
          <p:cNvSpPr txBox="1"/>
          <p:nvPr/>
        </p:nvSpPr>
        <p:spPr>
          <a:xfrm>
            <a:off x="923668" y="3503013"/>
            <a:ext cx="31893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="1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xample:</a:t>
            </a: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6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Average salary by department</a:t>
            </a:r>
            <a:endParaRPr sz="6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df.groupby('Department')['Salary'].mean()</a:t>
            </a:r>
            <a:endParaRPr sz="600"/>
          </a:p>
        </p:txBody>
      </p:sp>
      <p:sp>
        <p:nvSpPr>
          <p:cNvPr id="366" name="Google Shape;366;p38"/>
          <p:cNvSpPr/>
          <p:nvPr/>
        </p:nvSpPr>
        <p:spPr>
          <a:xfrm>
            <a:off x="720333" y="340755"/>
            <a:ext cx="1120514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7" name="Google Shape;367;p38"/>
          <p:cNvSpPr txBox="1"/>
          <p:nvPr/>
        </p:nvSpPr>
        <p:spPr>
          <a:xfrm>
            <a:off x="5127150" y="3304075"/>
            <a:ext cx="3337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5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aggregations</a:t>
            </a:r>
            <a:endParaRPr sz="5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df.groupby('Department').agg({</a:t>
            </a:r>
            <a:endParaRPr sz="5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'Salary': ['mean', 'max'],</a:t>
            </a:r>
            <a:endParaRPr sz="500"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'Age': 'median'  })</a:t>
            </a:r>
            <a:endParaRPr sz="500"/>
          </a:p>
        </p:txBody>
      </p:sp>
      <p:sp>
        <p:nvSpPr>
          <p:cNvPr id="368" name="Google Shape;368;p38"/>
          <p:cNvSpPr txBox="1"/>
          <p:nvPr/>
        </p:nvSpPr>
        <p:spPr>
          <a:xfrm>
            <a:off x="5144950" y="2756897"/>
            <a:ext cx="312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.agg() allows multiple metrics at once. </a:t>
            </a:r>
            <a:endParaRPr b="1" i="0" sz="15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42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 txBox="1"/>
          <p:nvPr/>
        </p:nvSpPr>
        <p:spPr>
          <a:xfrm>
            <a:off x="3329408" y="87782"/>
            <a:ext cx="28309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</a:t>
            </a:r>
            <a:endParaRPr sz="700"/>
          </a:p>
        </p:txBody>
      </p:sp>
      <p:sp>
        <p:nvSpPr>
          <p:cNvPr id="374" name="Google Shape;374;p39"/>
          <p:cNvSpPr/>
          <p:nvPr/>
        </p:nvSpPr>
        <p:spPr>
          <a:xfrm>
            <a:off x="6221" y="1441446"/>
            <a:ext cx="9137780" cy="3702054"/>
          </a:xfrm>
          <a:custGeom>
            <a:rect b="b" l="l" r="r" t="t"/>
            <a:pathLst>
              <a:path extrusionOk="0" h="7404108" w="17714041">
                <a:moveTo>
                  <a:pt x="0" y="0"/>
                </a:moveTo>
                <a:lnTo>
                  <a:pt x="17714040" y="0"/>
                </a:lnTo>
                <a:lnTo>
                  <a:pt x="17714040" y="7404108"/>
                </a:lnTo>
                <a:lnTo>
                  <a:pt x="0" y="740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39"/>
          <p:cNvSpPr txBox="1"/>
          <p:nvPr/>
        </p:nvSpPr>
        <p:spPr>
          <a:xfrm>
            <a:off x="514350" y="1370948"/>
            <a:ext cx="3521535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new insights by generating features from existing data. We use apply() to apply logic row-by-row.</a:t>
            </a:r>
            <a:endParaRPr sz="700"/>
          </a:p>
        </p:txBody>
      </p:sp>
      <p:pic>
        <p:nvPicPr>
          <p:cNvPr id="376" name="Google Shape;37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5115" y="1225874"/>
            <a:ext cx="4148885" cy="3865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7" name="Google Shape;377;p39"/>
          <p:cNvGrpSpPr/>
          <p:nvPr/>
        </p:nvGrpSpPr>
        <p:grpSpPr>
          <a:xfrm>
            <a:off x="0" y="-58747"/>
            <a:ext cx="504264" cy="5202110"/>
            <a:chOff x="0" y="-66675"/>
            <a:chExt cx="497400" cy="2981835"/>
          </a:xfrm>
        </p:grpSpPr>
        <p:sp>
          <p:nvSpPr>
            <p:cNvPr id="378" name="Google Shape;378;p39"/>
            <p:cNvSpPr/>
            <p:nvPr/>
          </p:nvSpPr>
          <p:spPr>
            <a:xfrm>
              <a:off x="0" y="0"/>
              <a:ext cx="497343" cy="2915160"/>
            </a:xfrm>
            <a:custGeom>
              <a:rect b="b" l="l" r="r" t="t"/>
              <a:pathLst>
                <a:path extrusionOk="0" h="2915160" w="497343">
                  <a:moveTo>
                    <a:pt x="0" y="0"/>
                  </a:moveTo>
                  <a:lnTo>
                    <a:pt x="497343" y="0"/>
                  </a:lnTo>
                  <a:lnTo>
                    <a:pt x="497343" y="2915160"/>
                  </a:lnTo>
                  <a:lnTo>
                    <a:pt x="0" y="2915160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79" name="Google Shape;379;p39"/>
            <p:cNvSpPr txBox="1"/>
            <p:nvPr/>
          </p:nvSpPr>
          <p:spPr>
            <a:xfrm>
              <a:off x="0" y="-66675"/>
              <a:ext cx="497400" cy="27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39"/>
          <p:cNvSpPr/>
          <p:nvPr/>
        </p:nvSpPr>
        <p:spPr>
          <a:xfrm>
            <a:off x="606538" y="255587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39"/>
          <p:cNvSpPr txBox="1"/>
          <p:nvPr/>
        </p:nvSpPr>
        <p:spPr>
          <a:xfrm>
            <a:off x="514350" y="2414976"/>
            <a:ext cx="4480800" cy="25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column from existing data</a:t>
            </a:r>
            <a:endParaRPr sz="600"/>
          </a:p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df['Salary_in_k'] = df['Salary'] / 1000</a:t>
            </a:r>
            <a:endParaRPr sz="600"/>
          </a:p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 category</a:t>
            </a:r>
            <a:endParaRPr sz="600"/>
          </a:p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df['Age_Category'] = pd.cut(df['Age'], bins=[0, 30, 50], labels=['Young', 'Old'])</a:t>
            </a:r>
            <a:endParaRPr sz="600"/>
          </a:p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 function</a:t>
            </a:r>
            <a:endParaRPr sz="6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df['Seniority'] = df['Age'].apply(lambda</a:t>
            </a:r>
            <a:endParaRPr sz="600"/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x: 'Senior' if x &gt; 30 else 'Junior')</a:t>
            </a:r>
            <a:endParaRPr sz="600"/>
          </a:p>
        </p:txBody>
      </p:sp>
      <p:sp>
        <p:nvSpPr>
          <p:cNvPr id="382" name="Google Shape;382;p39"/>
          <p:cNvSpPr txBox="1"/>
          <p:nvPr/>
        </p:nvSpPr>
        <p:spPr>
          <a:xfrm>
            <a:off x="504192" y="2168675"/>
            <a:ext cx="95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/>
          <p:nvPr/>
        </p:nvSpPr>
        <p:spPr>
          <a:xfrm>
            <a:off x="1653926" y="572966"/>
            <a:ext cx="583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A4F7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Merging and Concatenation</a:t>
            </a:r>
            <a:endParaRPr sz="700"/>
          </a:p>
        </p:txBody>
      </p:sp>
      <p:sp>
        <p:nvSpPr>
          <p:cNvPr id="388" name="Google Shape;388;p40"/>
          <p:cNvSpPr txBox="1"/>
          <p:nvPr/>
        </p:nvSpPr>
        <p:spPr>
          <a:xfrm>
            <a:off x="488098" y="3015017"/>
            <a:ext cx="3986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Merge on common key</a:t>
            </a:r>
            <a:endParaRPr sz="6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pd.merge(df1, df2, on='EmployeeID', how='inner')</a:t>
            </a:r>
            <a:endParaRPr sz="600"/>
          </a:p>
        </p:txBody>
      </p:sp>
      <p:grpSp>
        <p:nvGrpSpPr>
          <p:cNvPr id="389" name="Google Shape;389;p40"/>
          <p:cNvGrpSpPr/>
          <p:nvPr/>
        </p:nvGrpSpPr>
        <p:grpSpPr>
          <a:xfrm>
            <a:off x="488098" y="1224317"/>
            <a:ext cx="3065782" cy="669149"/>
            <a:chOff x="0" y="-66675"/>
            <a:chExt cx="1614897" cy="352474"/>
          </a:xfrm>
        </p:grpSpPr>
        <p:sp>
          <p:nvSpPr>
            <p:cNvPr id="390" name="Google Shape;390;p40"/>
            <p:cNvSpPr/>
            <p:nvPr/>
          </p:nvSpPr>
          <p:spPr>
            <a:xfrm>
              <a:off x="0" y="0"/>
              <a:ext cx="1614897" cy="285799"/>
            </a:xfrm>
            <a:custGeom>
              <a:rect b="b" l="l" r="r" t="t"/>
              <a:pathLst>
                <a:path extrusionOk="0" h="285799" w="1614897">
                  <a:moveTo>
                    <a:pt x="22727" y="0"/>
                  </a:moveTo>
                  <a:lnTo>
                    <a:pt x="1592170" y="0"/>
                  </a:lnTo>
                  <a:cubicBezTo>
                    <a:pt x="1604722" y="0"/>
                    <a:pt x="1614897" y="10175"/>
                    <a:pt x="1614897" y="22727"/>
                  </a:cubicBezTo>
                  <a:lnTo>
                    <a:pt x="1614897" y="263071"/>
                  </a:lnTo>
                  <a:cubicBezTo>
                    <a:pt x="1614897" y="275623"/>
                    <a:pt x="1604722" y="285799"/>
                    <a:pt x="1592170" y="285799"/>
                  </a:cubicBezTo>
                  <a:lnTo>
                    <a:pt x="22727" y="285799"/>
                  </a:lnTo>
                  <a:cubicBezTo>
                    <a:pt x="10175" y="285799"/>
                    <a:pt x="0" y="275623"/>
                    <a:pt x="0" y="263071"/>
                  </a:cubicBezTo>
                  <a:lnTo>
                    <a:pt x="0" y="22727"/>
                  </a:lnTo>
                  <a:cubicBezTo>
                    <a:pt x="0" y="10175"/>
                    <a:pt x="10175" y="0"/>
                    <a:pt x="22727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0"/>
            <p:cNvSpPr txBox="1"/>
            <p:nvPr/>
          </p:nvSpPr>
          <p:spPr>
            <a:xfrm>
              <a:off x="0" y="-66675"/>
              <a:ext cx="1614897" cy="352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2" name="Google Shape;392;p40"/>
          <p:cNvSpPr txBox="1"/>
          <p:nvPr/>
        </p:nvSpPr>
        <p:spPr>
          <a:xfrm>
            <a:off x="684688" y="1418346"/>
            <a:ext cx="1311752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Merging</a:t>
            </a:r>
            <a:endParaRPr sz="700"/>
          </a:p>
        </p:txBody>
      </p:sp>
      <p:grpSp>
        <p:nvGrpSpPr>
          <p:cNvPr id="393" name="Google Shape;393;p40"/>
          <p:cNvGrpSpPr/>
          <p:nvPr/>
        </p:nvGrpSpPr>
        <p:grpSpPr>
          <a:xfrm>
            <a:off x="5166267" y="1224320"/>
            <a:ext cx="2982534" cy="669137"/>
            <a:chOff x="0" y="-66675"/>
            <a:chExt cx="1571078" cy="352474"/>
          </a:xfrm>
        </p:grpSpPr>
        <p:sp>
          <p:nvSpPr>
            <p:cNvPr id="394" name="Google Shape;394;p40"/>
            <p:cNvSpPr/>
            <p:nvPr/>
          </p:nvSpPr>
          <p:spPr>
            <a:xfrm>
              <a:off x="0" y="0"/>
              <a:ext cx="1571078" cy="285799"/>
            </a:xfrm>
            <a:custGeom>
              <a:rect b="b" l="l" r="r" t="t"/>
              <a:pathLst>
                <a:path extrusionOk="0" h="285799" w="1571078">
                  <a:moveTo>
                    <a:pt x="23361" y="0"/>
                  </a:moveTo>
                  <a:lnTo>
                    <a:pt x="1547717" y="0"/>
                  </a:lnTo>
                  <a:cubicBezTo>
                    <a:pt x="1553913" y="0"/>
                    <a:pt x="1559855" y="2461"/>
                    <a:pt x="1564236" y="6842"/>
                  </a:cubicBezTo>
                  <a:cubicBezTo>
                    <a:pt x="1568617" y="11223"/>
                    <a:pt x="1571078" y="17165"/>
                    <a:pt x="1571078" y="23361"/>
                  </a:cubicBezTo>
                  <a:lnTo>
                    <a:pt x="1571078" y="262437"/>
                  </a:lnTo>
                  <a:cubicBezTo>
                    <a:pt x="1571078" y="275339"/>
                    <a:pt x="1560619" y="285799"/>
                    <a:pt x="1547717" y="285799"/>
                  </a:cubicBezTo>
                  <a:lnTo>
                    <a:pt x="23361" y="285799"/>
                  </a:lnTo>
                  <a:cubicBezTo>
                    <a:pt x="10459" y="285799"/>
                    <a:pt x="0" y="275339"/>
                    <a:pt x="0" y="262437"/>
                  </a:cubicBezTo>
                  <a:lnTo>
                    <a:pt x="0" y="23361"/>
                  </a:lnTo>
                  <a:cubicBezTo>
                    <a:pt x="0" y="10459"/>
                    <a:pt x="10459" y="0"/>
                    <a:pt x="23361" y="0"/>
                  </a:cubicBezTo>
                  <a:close/>
                </a:path>
              </a:pathLst>
            </a:custGeom>
            <a:gradFill>
              <a:gsLst>
                <a:gs pos="0">
                  <a:srgbClr val="0B4972"/>
                </a:gs>
                <a:gs pos="100000">
                  <a:srgbClr val="021827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0"/>
            <p:cNvSpPr txBox="1"/>
            <p:nvPr/>
          </p:nvSpPr>
          <p:spPr>
            <a:xfrm>
              <a:off x="0" y="-66675"/>
              <a:ext cx="1571078" cy="352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40"/>
          <p:cNvSpPr txBox="1"/>
          <p:nvPr/>
        </p:nvSpPr>
        <p:spPr>
          <a:xfrm>
            <a:off x="5246157" y="1418349"/>
            <a:ext cx="197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Concatenation</a:t>
            </a:r>
            <a:endParaRPr sz="700"/>
          </a:p>
        </p:txBody>
      </p:sp>
      <p:grpSp>
        <p:nvGrpSpPr>
          <p:cNvPr id="397" name="Google Shape;397;p40"/>
          <p:cNvGrpSpPr/>
          <p:nvPr/>
        </p:nvGrpSpPr>
        <p:grpSpPr>
          <a:xfrm rot="5400000">
            <a:off x="4288230" y="165083"/>
            <a:ext cx="690188" cy="9266647"/>
            <a:chOff x="0" y="-66675"/>
            <a:chExt cx="363555" cy="5037638"/>
          </a:xfrm>
        </p:grpSpPr>
        <p:sp>
          <p:nvSpPr>
            <p:cNvPr id="398" name="Google Shape;398;p40"/>
            <p:cNvSpPr/>
            <p:nvPr/>
          </p:nvSpPr>
          <p:spPr>
            <a:xfrm>
              <a:off x="0" y="0"/>
              <a:ext cx="363555" cy="4970963"/>
            </a:xfrm>
            <a:custGeom>
              <a:rect b="b" l="l" r="r" t="t"/>
              <a:pathLst>
                <a:path extrusionOk="0" h="4970963" w="363555">
                  <a:moveTo>
                    <a:pt x="0" y="0"/>
                  </a:moveTo>
                  <a:lnTo>
                    <a:pt x="363555" y="0"/>
                  </a:lnTo>
                  <a:lnTo>
                    <a:pt x="363555" y="4970963"/>
                  </a:lnTo>
                  <a:lnTo>
                    <a:pt x="0" y="4970963"/>
                  </a:lnTo>
                  <a:close/>
                </a:path>
              </a:pathLst>
            </a:custGeom>
            <a:gradFill>
              <a:gsLst>
                <a:gs pos="0">
                  <a:srgbClr val="032034"/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399" name="Google Shape;399;p40"/>
            <p:cNvSpPr txBox="1"/>
            <p:nvPr/>
          </p:nvSpPr>
          <p:spPr>
            <a:xfrm>
              <a:off x="0" y="-66675"/>
              <a:ext cx="363555" cy="5037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40"/>
          <p:cNvSpPr/>
          <p:nvPr/>
        </p:nvSpPr>
        <p:spPr>
          <a:xfrm>
            <a:off x="423491" y="316536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p40"/>
          <p:cNvSpPr txBox="1"/>
          <p:nvPr/>
        </p:nvSpPr>
        <p:spPr>
          <a:xfrm>
            <a:off x="514350" y="2074829"/>
            <a:ext cx="3960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merge() to join datasets horizontally (like SQL JOINs).</a:t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5166267" y="3120023"/>
            <a:ext cx="3543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Concatenate dataframes vertically</a:t>
            </a:r>
            <a:endParaRPr sz="5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pd.concat([df1, df2], axis=0)</a:t>
            </a:r>
            <a:endParaRPr sz="600"/>
          </a:p>
        </p:txBody>
      </p:sp>
      <p:sp>
        <p:nvSpPr>
          <p:cNvPr id="403" name="Google Shape;403;p40"/>
          <p:cNvSpPr txBox="1"/>
          <p:nvPr/>
        </p:nvSpPr>
        <p:spPr>
          <a:xfrm>
            <a:off x="5166267" y="2021379"/>
            <a:ext cx="3543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concat() to stack datasets vertically or horizontally.</a:t>
            </a:r>
            <a:endParaRPr b="0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40"/>
          <p:cNvSpPr txBox="1"/>
          <p:nvPr/>
        </p:nvSpPr>
        <p:spPr>
          <a:xfrm>
            <a:off x="504192" y="2777209"/>
            <a:ext cx="95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Exampl:</a:t>
            </a:r>
            <a:endParaRPr sz="700"/>
          </a:p>
        </p:txBody>
      </p:sp>
      <p:sp>
        <p:nvSpPr>
          <p:cNvPr id="405" name="Google Shape;405;p40"/>
          <p:cNvSpPr txBox="1"/>
          <p:nvPr/>
        </p:nvSpPr>
        <p:spPr>
          <a:xfrm>
            <a:off x="5340392" y="2777209"/>
            <a:ext cx="9591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411" l="0" r="0" t="-83411"/>
            </a:stretch>
          </a:blipFill>
          <a:ln>
            <a:noFill/>
          </a:ln>
        </p:spPr>
      </p:sp>
      <p:sp>
        <p:nvSpPr>
          <p:cNvPr id="411" name="Google Shape;411;p41"/>
          <p:cNvSpPr txBox="1"/>
          <p:nvPr/>
        </p:nvSpPr>
        <p:spPr>
          <a:xfrm>
            <a:off x="2572373" y="2920770"/>
            <a:ext cx="3999255" cy="90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 sz="700"/>
          </a:p>
        </p:txBody>
      </p:sp>
      <p:grpSp>
        <p:nvGrpSpPr>
          <p:cNvPr id="412" name="Google Shape;412;p41"/>
          <p:cNvGrpSpPr/>
          <p:nvPr/>
        </p:nvGrpSpPr>
        <p:grpSpPr>
          <a:xfrm rot="5400000">
            <a:off x="4436483" y="-110407"/>
            <a:ext cx="826950" cy="9680865"/>
            <a:chOff x="0" y="-66675"/>
            <a:chExt cx="435595" cy="5099386"/>
          </a:xfrm>
        </p:grpSpPr>
        <p:sp>
          <p:nvSpPr>
            <p:cNvPr id="413" name="Google Shape;413;p41"/>
            <p:cNvSpPr/>
            <p:nvPr/>
          </p:nvSpPr>
          <p:spPr>
            <a:xfrm>
              <a:off x="0" y="0"/>
              <a:ext cx="435595" cy="5032711"/>
            </a:xfrm>
            <a:custGeom>
              <a:rect b="b" l="l" r="r" t="t"/>
              <a:pathLst>
                <a:path extrusionOk="0" h="5032711" w="435595">
                  <a:moveTo>
                    <a:pt x="0" y="0"/>
                  </a:moveTo>
                  <a:lnTo>
                    <a:pt x="435595" y="0"/>
                  </a:lnTo>
                  <a:lnTo>
                    <a:pt x="435595" y="5032711"/>
                  </a:lnTo>
                  <a:lnTo>
                    <a:pt x="0" y="5032711"/>
                  </a:lnTo>
                  <a:close/>
                </a:path>
              </a:pathLst>
            </a:custGeom>
            <a:gradFill>
              <a:gsLst>
                <a:gs pos="0">
                  <a:srgbClr val="001627">
                    <a:alpha val="0"/>
                  </a:srgbClr>
                </a:gs>
                <a:gs pos="100000">
                  <a:srgbClr val="0B4972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14" name="Google Shape;414;p41"/>
            <p:cNvSpPr txBox="1"/>
            <p:nvPr/>
          </p:nvSpPr>
          <p:spPr>
            <a:xfrm>
              <a:off x="0" y="-66675"/>
              <a:ext cx="435595" cy="5099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41"/>
          <p:cNvSpPr/>
          <p:nvPr/>
        </p:nvSpPr>
        <p:spPr>
          <a:xfrm>
            <a:off x="514350" y="235584"/>
            <a:ext cx="1120515" cy="378766"/>
          </a:xfrm>
          <a:custGeom>
            <a:rect b="b" l="l" r="r" t="t"/>
            <a:pathLst>
              <a:path extrusionOk="0" h="757531" w="2241029">
                <a:moveTo>
                  <a:pt x="0" y="0"/>
                </a:moveTo>
                <a:lnTo>
                  <a:pt x="2241029" y="0"/>
                </a:lnTo>
                <a:lnTo>
                  <a:pt x="2241029" y="757531"/>
                </a:lnTo>
                <a:lnTo>
                  <a:pt x="0" y="757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41"/>
          <p:cNvSpPr txBox="1"/>
          <p:nvPr/>
        </p:nvSpPr>
        <p:spPr>
          <a:xfrm>
            <a:off x="2572373" y="519100"/>
            <a:ext cx="3999255" cy="1739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Any Questions</a:t>
            </a:r>
            <a:endParaRPr sz="700"/>
          </a:p>
        </p:txBody>
      </p:sp>
      <p:sp>
        <p:nvSpPr>
          <p:cNvPr id="417" name="Google Shape;417;p41"/>
          <p:cNvSpPr txBox="1"/>
          <p:nvPr/>
        </p:nvSpPr>
        <p:spPr>
          <a:xfrm>
            <a:off x="106864" y="4752430"/>
            <a:ext cx="6855951" cy="29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the Machine Learning and Artificial Intelligence Department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